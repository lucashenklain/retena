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0B2545"/>
                </a:solidFill>
                <a:latin typeface="Segoe UI"/>
              </a:rPr>
              <a:t>De cada 100 alunos em cada faixa, quantos realmente sumiram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Inatividade observada</c:v>
                </c:pt>
              </c:strCache>
            </c:strRef>
          </c:tx>
          <c:dPt>
            <c:idx val="0"/>
            <c:spPr>
              <a:solidFill>
                <a:srgbClr val="FF6B4A"/>
              </a:solidFill>
            </c:spPr>
          </c:dPt>
          <c:dPt>
            <c:idx val="1"/>
            <c:spPr>
              <a:solidFill>
                <a:srgbClr val="FFB703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cat>
            <c:strRef>
              <c:f>Sheet1!$A$2:$A$4</c:f>
              <c:strCache>
                <c:ptCount val="3"/>
                <c:pt idx="0">
                  <c:v>Alto (≥ 0,60)</c:v>
                </c:pt>
                <c:pt idx="1">
                  <c:v>Médio (0,30–0,60)</c:v>
                </c:pt>
                <c:pt idx="2">
                  <c:v>Baixo (&lt; 0,30)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95.2</c:v>
                </c:pt>
                <c:pt idx="1">
                  <c:v>48.7</c:v>
                </c:pt>
                <c:pt idx="2">
                  <c:v>14.3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3A4A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FFFFFF"/>
                </a:solidFill>
                <a:latin typeface="Segoe UI"/>
              </a:rPr>
              <a:t>Alunos da Fase 1 que seguem ativos em cada fase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Alunos ativos</c:v>
                </c:pt>
              </c:strCache>
            </c:strRef>
          </c:tx>
          <c:dPt>
            <c:idx val="0"/>
            <c:spPr>
              <a:solidFill>
                <a:srgbClr val="2EC4B6"/>
              </a:solidFill>
            </c:spPr>
          </c:dPt>
          <c:dPt>
            <c:idx val="1"/>
            <c:spPr>
              <a:solidFill>
                <a:srgbClr val="2EC4B6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dPt>
            <c:idx val="3"/>
            <c:spPr>
              <a:solidFill>
                <a:srgbClr val="2EC4B6"/>
              </a:solidFill>
            </c:spPr>
          </c:dPt>
          <c:dPt>
            <c:idx val="4"/>
            <c:spPr>
              <a:solidFill>
                <a:srgbClr val="FFB703"/>
              </a:solidFill>
            </c:spPr>
          </c:dPt>
          <c:cat>
            <c:strRef>
              <c:f>Sheet1!$A$2:$A$6</c:f>
              <c:strCache>
                <c:ptCount val="5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  <c:pt idx="3">
                  <c:v>Fase 4</c:v>
                </c:pt>
                <c:pt idx="4">
                  <c:v>Fase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</c:v>
                </c:pt>
                <c:pt idx="1">
                  <c:v>165</c:v>
                </c:pt>
                <c:pt idx="2">
                  <c:v>165</c:v>
                </c:pt>
                <c:pt idx="3">
                  <c:v>161</c:v>
                </c:pt>
                <c:pt idx="4">
                  <c:v>154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4A73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(20 s). Boa noite. Toda noite, milhões de brasileiros abrem o notebook depois do trabalho para estudar a distância. Todo ano, quatro em cada dez desistem. Ninguém desiste de repente — mas a instituição só percebe quando a mensalidade para. Nós somos a Retena.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Gancho (15 s). Você já reparou como as turmas EAD começam cheias e vão esvaziando? 5,2 milhões de alunos, metade do ensino superior; 41,6% desistem por ano. É o problema que todo mundo vê e ninguém mede a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e depois (30 s). Hoje: descobre no financeiro, age com e-mail genérico, prioriza no escuro e não mede. Com a Retena: segunda de manhã a coordenação sabe quem chamar, por quê e o que dizer; contata no horário em que o aluno estuda; registra o resultado e mede em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Tarde demais (25 s). Isto é a base real de uma IES parceira: 685 mil eventos de 203 alunos. Em um único dia, 61 alunos — 30% da turma — estavam há mais de duas semanas sem acessar. Zero alertas. Em sete meses, 12% dos ingressantes se perderam. O LMS sabia; faltava alguém ouvir.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Público (20 s). Cliente: a IES privada com EAD. Quem compra é a diretora de operações, que responde pela receita. Quem usa toda segunda é a coordenadora de permanência e seus tutores. Quem ganha é o aluno trabalhador que estuda à noite.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(30 s). A Retena transforma os logs em três respostas: QUEM está a duas semanas de sumir, ONDE o conteúdo trava e QUANTO isso vale em reais — com a fila de segunda dizendo quem chamar, por quê, quando e o que dizer. Tudo dentro do banco que a instituição já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funciona (35 s). Quatro passos: a IES exporta o LMS para o banco Oracle; o risco é calculado dentro do banco com Oracle Machine Learning; a fila de segunda chega à coordenação em APEX; o resultado volta em reais e retreina o modelo. Sem servidor de ML, sem cientista de dados, sem o dado sair da instituição.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(1 min). Dashboard publicado, já aberto. 1) Visão 'Diretoria': alunos para chamar esta semana e receita em risco em R$ — mudar o ticket e mostrar que recalcula. 2) Visão 'Coordenação': buscar 'Aluno 0227', clicar e abrir o motivo e a ação sugerida; mostrar o mapa de atrito. 3) Se perguntarem, visão 'Time técnico'. Tudo com a base real anonimizada. Sem internet: apêndice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(40 s). Treinamos nos primeiros meses e testamos nos seguintes, sem olhar o futuro. Dos alunos que apontamos como alto risco, 95 em 100 de fato sumiram; priorizar pela Retena acerta 3 vezes mais do que ao acaso. E não é só a nossa amostra: o mesmo método em 24 mil alunos da Open University deu AUC 0,92. Limitações ditas na cara: amostra de um curso, rótulo comportamental, antecipar é mais difícil do que confirmar.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Oracle (30 s). Três razões de negócio, não de tecnologia: LGPD — o dado do aluno não sai do banco da instituição, e a objeção número um da diretoria desaparece; time-to-value — features em SQL, Oracle Machine Learning, APEX, sem cientista de dados, primeira fila em 30 dias; escala e canal — Autonomous Serverless com custo marginal perto de zero e um ecossistema que já roda Oracle nas 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Oracle (30 s). Isto não é um desenho: carregamos os 685 mil eventos no Oracle AI Database 26ai, calculamos as features em SQL, treinamos três modelos dentro do banco com DBMS_DATA_MINING e expusemos o risco por SQL e JSON. Random Forest com AUC 0,949 no teste temporal. Reexecutamos tudo ontem, do zero, sem erros. Se perguntarem sobre 0,88 × 0,95: duas implementações independentes, ambas com teste temporal; os números não são comparáveis um 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Oracle (25 s). Para a banca ver de uma vez: cinco componentes já executados e evidenciados — banco 26ai, Oracle Machine Learning, views JSON e Duality View, DBMS_SCHEDULER e a carga via python-oracledb. Autonomous e Object Storage têm runbook pronto de 60 minutos; APEX vai ao NEXT em 24/10; Select AI está no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Negócio (40 s). Assinatura por aluno ativo por mês: 6 reais até 10 mil alunos, 4 de 10 a 50 mil, 3 para megagrupos; plano Essencial para IES pequenas. Entrada por piloto de 90 dias com meta de rematrícula. A conta: uma IES de 12 mil alunos paga 576 mil por ano; reter 137 alunos — 1,1% da base — já paga o contrato; cada ponto de desistência evitado vale meio milhão. Quem paga é a diretoria de operações, porque compramos rematrícula.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Marketing e aquisição (35 s). Funil em quatro etapas: atrair com a landing page e o vídeo de vendas já publicados, conteúdo com dados do INEP e Semesp e prospecção direta de diretores de operações; diagnosticar de graça — a IES manda o export do LMS e recebe em 7 dias o painel de receita em risco; provar com o piloto de 90 dias pago; expandir por contrato anual e pelo ecossistema Oracle. Metas do ano 1: 30 diagnósticos, 6 pilotos, 2 a 3 contratos, CAC pago em menos de um trimestre.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Mercado (15 s). 2.244 IES privadas e 5,2 milhões de alunos EAD: TAM de 249 milhões por ano; alvo inicial nas IES médias fora dos megagrupos; SOM de 2,5 a 4,3 milhões de ARR em 3 anos. Megagrupos entram na fase 2 via ecossistema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Impacto e próximos passos (25 s). Para o aluno, uma formatura; para a instituição, meio milhão por ponto de desistência evitado; para a sociedade, mais formandos no EAD. Próximos passos: NEXT em 24/10 com Autonomous e APEX; piloto de 90 dias com meta de rematrícula. Pedimos apoio ao Always Free, uma IES parceira e mentoria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Equipe (10 s). Cinco engenheiros de software do 4º ano; Lucas Dalmas lidera. Tudo o que foi mostrado está publicado e reproduzível.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(20 s). A evasão não é um evento, é um processo silencioso que dura semanas. A Retena escuta esse silêncio e devolve tempo para quem pode agir. Ninguém desiste de repente. A Retena percebe antes. Obrigado. (QR codes: vídeo, site com calculadora e dashboard, repositório.)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apresentar; usar sob demanda nas perguntas. A1 é a reserva da demonstração se a internet falhar.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 se a internet falhar. Reforçar: motivo em linguagem simples ao lado de cada score, e o resultado do contato é registrado em um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desempenho. A logística é ligeiramente melhor por margem dentro do ruído; o HGB foi mantido por precisão a 0,5 e rastreabilidade.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arquitetura de dados 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'a amostra é pequena' e 'funciona em outra IES?'.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metodológicas e para o debate com abordagens de split aleatório.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LGPD, segurança e 'quando vai para a nuvem'.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produto e experiência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riscos do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a Parte 2 (validação e stakeholders).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'por que este modelo' e '203 alunos é pouco'. Benchmark do pipeline de um integrante incorporado após a entrega: nenhuma configuração supera o baseline; OULAD confirma o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'isso não é só um BI?' e 'concorrentes?'.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perguntarem sobre as entrevistas: foram simuladas com personas sintéticas para calibrar o roteiro e antecipar objeções; estão rotuladas assim no documento e serão confirmadas em campo antes do piloto. Responder exatamente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o módulo de conteúdo e a parte pedagógica.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'de onde vêm os 30%' e para o funil por fase. O dashboard usa outra definição de ativo por fase (165 → 163 → 165 → 153 → 143), por isso os números diferem.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arquitetura: onde cada componente Oracle entra e por que o dado nunca sai do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uno_noite.jpg"/>
          <p:cNvPicPr>
            <a:picLocks noChangeAspect="1"/>
          </p:cNvPicPr>
          <p:nvPr/>
        </p:nvPicPr>
        <p:blipFill>
          <a:blip r:embed="rId2"/>
          <a:srcRect l="27939" r="27939"/>
          <a:stretch>
            <a:fillRect/>
          </a:stretch>
        </p:blipFill>
        <p:spPr>
          <a:xfrm>
            <a:off x="6812280" y="0"/>
            <a:ext cx="53794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0B254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12280" y="0"/>
            <a:ext cx="54864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8095488" y="5754624"/>
            <a:ext cx="2634996" cy="1274064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203200" cap="rnd">
            <a:solidFill>
              <a:srgbClr val="2EC4B6">
                <a:alpha val="5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29138" y="5334762"/>
            <a:ext cx="492252" cy="492252"/>
          </a:xfrm>
          <a:prstGeom prst="ellipse">
            <a:avLst/>
          </a:prstGeom>
          <a:solidFill>
            <a:srgbClr val="2EC4B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907792" cy="822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874519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EC4B6"/>
                </a:solidFill>
                <a:latin typeface="Segoe UI"/>
              </a:rPr>
              <a:t>Startup One · Enterprise Challenge Oracle · FIAP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943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Ninguém desiste</a:t>
            </a:r>
          </a:p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de repente.</a:t>
            </a:r>
          </a:p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6E4"/>
                </a:solidFill>
                <a:latin typeface="Segoe UI"/>
              </a:rPr>
              <a:t>Radar de permanência para o ensino superior EAD: lê os sinais que o LMS já registra e entrega, toda segunda, quem chamar, por quê e o que dizer. Dentro do Oracle AI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Lucas Dalmas (RM551178) · Lucas Emanuel (RM97881) · Kayque Moraes (RM97592)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Lucas Henklain (RM99350) · Vinicius Pinheiro (RM99198)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Banca Final · 23 de setembro de 2026 · Engenharia de Software, 4º ano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pus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8449056" y="5779008"/>
            <a:ext cx="2496312" cy="1207008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203200" cap="rnd">
            <a:solidFill>
              <a:srgbClr val="2EC4B6">
                <a:alpha val="6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49356" y="5381244"/>
            <a:ext cx="466344" cy="466344"/>
          </a:xfrm>
          <a:prstGeom prst="ellipse">
            <a:avLst/>
          </a:prstGeom>
          <a:solidFill>
            <a:srgbClr val="2EC4B6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76984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28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PROBLEMA QUE TODO MUNDO VÊ E NINGUÉM MEDE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424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5,2 milhões de brasileiros estudam a distância.</a:t>
            </a:r>
          </a:p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 maioria, à noite, depois do trabalho.</a:t>
            </a:r>
          </a:p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EC4B6"/>
                </a:solidFill>
                <a:latin typeface="Segoe UI"/>
              </a:rPr>
              <a:t>Quatro em cada dez desistem a cada 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9D6E4"/>
                </a:solidFill>
                <a:latin typeface="Segoe UI"/>
              </a:rPr>
              <a:t>A instituição só percebe quando a mensalidade para. Semanas antes, o LMS já tinha registrado o silêncio — e ninguém estava ouvindo.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FB3C8"/>
                </a:solidFill>
                <a:latin typeface="Segoe UI"/>
              </a:rPr>
              <a:t>Fontes: INEP, Censo da Educação Superior 2024 (5,19 mi matrículas EAD, 50,7% do total); Instituto Semesp, 16º Mapa do Ensino Superior no Brasil 2026 (desistência anual no EAD: 41,6%).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ANTES E DEPOIS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Hoje a instituição reage. Com a Retena, ela antecipa.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640080" cy="64008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6B4A"/>
                </a:solidFill>
                <a:latin typeface="Segoe UI"/>
              </a:rPr>
              <a:t>ANTES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16936"/>
            <a:ext cx="310896" cy="310896"/>
          </a:xfrm>
          <a:prstGeom prst="ellipse">
            <a:avLst/>
          </a:prstGeom>
          <a:solidFill>
            <a:srgbClr val="FFECE6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169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4A"/>
                </a:solidFill>
                <a:latin typeface="Segoe U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5292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Descobre tarde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7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 evasão aparece no financeiro, quando a mensalidade já parou.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03320"/>
            <a:ext cx="310896" cy="310896"/>
          </a:xfrm>
          <a:prstGeom prst="ellipse">
            <a:avLst/>
          </a:prstGeom>
          <a:solidFill>
            <a:srgbClr val="FFECE6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4A"/>
                </a:solidFill>
                <a:latin typeface="Segoe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3931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Age no genérico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41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E-mail padrão, desconto de emergência, ligação de cobrança.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9704"/>
            <a:ext cx="310896" cy="310896"/>
          </a:xfrm>
          <a:prstGeom prst="ellipse">
            <a:avLst/>
          </a:prstGeom>
          <a:solidFill>
            <a:srgbClr val="FFECE6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97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4A"/>
                </a:solidFill>
                <a:latin typeface="Segoe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2569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Prioriza no escuro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2744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12 tutores, 30% da turma em silêncio, nenhum critério.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276088"/>
            <a:ext cx="310896" cy="310896"/>
          </a:xfrm>
          <a:prstGeom prst="ellipse">
            <a:avLst/>
          </a:prstGeom>
          <a:solidFill>
            <a:srgbClr val="FFECE6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760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4A"/>
                </a:solidFill>
                <a:latin typeface="Segoe U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120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Não mede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138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Ninguém sabe quantos voltaram nem quanto isso valeu.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83080"/>
            <a:ext cx="5440680" cy="4343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92240" y="2011680"/>
            <a:ext cx="640080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COM A RETENA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2916936"/>
            <a:ext cx="310896" cy="31089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9169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85292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Percebe antes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15467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Segunda, 8h: a coordenação recebe quem está a duas semanas de sumir.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3703320"/>
            <a:ext cx="310896" cy="31089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033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63931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Age no específico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941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Por quê, quando (19h–22h) e o que dizer — aluno por aluno.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489704"/>
            <a:ext cx="310896" cy="31089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4897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2569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Prioriza com critério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2744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Alto risco e ainda ativo primeiro: onde uma conversa ainda muda o rumo.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5276088"/>
            <a:ext cx="310896" cy="31089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2760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2120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Mede em R$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5138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Resultado registrado em um clique; receita preservada; o modelo aprende.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  <p:pic>
        <p:nvPicPr>
          <p:cNvPr id="44" name="Picture 43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TARDE DEMAIS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Quando a instituição percebe, o aluno já decidiu.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FF6B4A"/>
                </a:solidFill>
                <a:latin typeface="Segoe UI"/>
              </a:rPr>
              <a:t>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2545"/>
                </a:solidFill>
                <a:latin typeface="Segoe UI"/>
              </a:rPr>
              <a:t>da turma em silêncio há mais de duas semanas.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6B4A"/>
                </a:solidFill>
                <a:latin typeface="Segoe UI"/>
              </a:rPr>
              <a:t>Nenhum alerta disparou.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5C"/>
                </a:solidFill>
                <a:latin typeface="Segoe UI"/>
              </a:rPr>
              <a:t>61 de 203 alunos, em um único dia, na base real anonimizada de uma IES parceira: 684.723 eventos de LMS, cinco fases, janeiro a agosto de 2026. O LMS registrou cada sinal. Ninguém estava ouvindo.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1737360"/>
            <a:ext cx="4206240" cy="42062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69748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0" b="1" i="0">
                <a:solidFill>
                  <a:srgbClr val="FFFFFF"/>
                </a:solidFill>
                <a:latin typeface="Segoe UI"/>
              </a:rPr>
              <a:t>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862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9D6E4"/>
                </a:solidFill>
                <a:latin typeface="Segoe UI"/>
              </a:rPr>
              <a:t>alunos em silêncio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9D6E4"/>
                </a:solidFill>
                <a:latin typeface="Segoe UI"/>
              </a:rPr>
              <a:t>há mais de 14 dias</a:t>
            </a:r>
          </a:p>
        </p:txBody>
      </p:sp>
      <p:sp>
        <p:nvSpPr>
          <p:cNvPr id="10" name="Oval 9"/>
          <p:cNvSpPr/>
          <p:nvPr/>
        </p:nvSpPr>
        <p:spPr>
          <a:xfrm>
            <a:off x="9921240" y="4434840"/>
            <a:ext cx="1828800" cy="18288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47091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5440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alertas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4892040"/>
            <a:ext cx="1417320" cy="141732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507492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596128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B2545"/>
                </a:solidFill>
                <a:latin typeface="Segoe UI"/>
              </a:rPr>
              <a:t>ingressantes perdidos em 7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  <p:pic>
        <p:nvPicPr>
          <p:cNvPr id="18" name="Picture 1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PARA QUEM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Quem assina protege receita. Quem usa ganha critério.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oordenadora.jpg"/>
          <p:cNvPicPr>
            <a:picLocks noChangeAspect="1"/>
          </p:cNvPicPr>
          <p:nvPr/>
        </p:nvPicPr>
        <p:blipFill>
          <a:blip r:embed="rId2"/>
          <a:srcRect t="4448" b="4448"/>
          <a:stretch>
            <a:fillRect/>
          </a:stretch>
        </p:blipFill>
        <p:spPr>
          <a:xfrm>
            <a:off x="658368" y="1892807"/>
            <a:ext cx="3300984" cy="169164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731520" y="37033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Renata · Diretora de Operações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Responde pela receita das mensalidades em um centro universitário com ~12 mil alunos 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3154680" cy="64008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Quer ver a evasão em R$ e o retorno em rematrícula.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tutor.jpg"/>
          <p:cNvPicPr>
            <a:picLocks noChangeAspect="1"/>
          </p:cNvPicPr>
          <p:nvPr/>
        </p:nvPicPr>
        <p:blipFill>
          <a:blip r:embed="rId3"/>
          <a:srcRect t="4448" b="4448"/>
          <a:stretch>
            <a:fillRect/>
          </a:stretch>
        </p:blipFill>
        <p:spPr>
          <a:xfrm>
            <a:off x="4407407" y="1892807"/>
            <a:ext cx="3300984" cy="1691640"/>
          </a:xfrm>
          <a:prstGeom prst="roundRect">
            <a:avLst>
              <a:gd name="adj" fmla="val 8000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4480559" y="37033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80559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Usa toda segunda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0690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Mariana · Coord. de Permanência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5262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Lidera 12 tutores. Hoje descobre a evasão tarde e prioriza no escuro.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5303520"/>
            <a:ext cx="3154680" cy="64008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7719" y="5349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Quer a lista de quem chamar, por quê e como.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aluno_noite.jpg"/>
          <p:cNvPicPr>
            <a:picLocks noChangeAspect="1"/>
          </p:cNvPicPr>
          <p:nvPr/>
        </p:nvPicPr>
        <p:blipFill>
          <a:blip r:embed="rId4"/>
          <a:srcRect t="4448" b="4448"/>
          <a:stretch>
            <a:fillRect/>
          </a:stretch>
        </p:blipFill>
        <p:spPr>
          <a:xfrm>
            <a:off x="8156447" y="1892807"/>
            <a:ext cx="3300984" cy="1691640"/>
          </a:xfrm>
          <a:prstGeom prst="roundRect">
            <a:avLst>
              <a:gd name="adj" fmla="val 8000"/>
            </a:avLst>
          </a:prstGeom>
        </p:spPr>
      </p:pic>
      <p:sp>
        <p:nvSpPr>
          <p:cNvPr id="22" name="Rounded Rectangle 21"/>
          <p:cNvSpPr/>
          <p:nvPr/>
        </p:nvSpPr>
        <p:spPr>
          <a:xfrm>
            <a:off x="8229599" y="37033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599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Beneficiário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0690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Segoe UI"/>
              </a:rPr>
              <a:t>Aluno EAD trabalhador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45262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Estuda das 19h às 22h. Trava em um capítulo, perde o ritmo e, sem ninguém perceber, desiste.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5303520"/>
            <a:ext cx="3154680" cy="64008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66759" y="5349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Responde a um plano concreto, não a cobrança.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  <p:pic>
        <p:nvPicPr>
          <p:cNvPr id="30" name="Picture 29" descr="retena_horizontal_escuro_sobre_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respostas que o BI não dá: quem, onde e quanto.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QUEM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Score de risco explicável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D6E4"/>
                </a:solidFill>
                <a:latin typeface="Segoe UI"/>
              </a:rPr>
              <a:t>Probabilidade de cada aluno ficar 21 dias sem acessar, recalculada todo domingo, com o motivo em linguagem simples: "12 dias sem acesso, queda de 70% nos eventos, parado no cap 2".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1999" y="1965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ONDE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606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Mapa de atrito de conteúdo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1089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D6E4"/>
                </a:solidFill>
                <a:latin typeface="Segoe UI"/>
              </a:rPr>
              <a:t>Capítulos e formatos onde os alunos travam — com recomendação concreta para a coordenação pedagógica ajustar o curso.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QUANTO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Fila semanal com resultado em R$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D6E4"/>
                </a:solidFill>
                <a:latin typeface="Segoe UI"/>
              </a:rPr>
              <a:t>Quem contatar, por quê, quando (19h–22h) e o que dizer. Resultado registrado em um clique e receita preservada medida em reais.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77240" y="557784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B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Toda segunda, 8h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557784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B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20440" y="557784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Dentro do Oracle AI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557784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B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63640" y="557784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 dado do aluno não sai da instituição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557784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B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06840" y="557784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Primeira fila em 30 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06</a:t>
            </a:r>
          </a:p>
        </p:txBody>
      </p:sp>
      <p:pic>
        <p:nvPicPr>
          <p:cNvPr id="29" name="Picture 28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Do LMS à segunda-feira, em quatro passos.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B2545"/>
                </a:solidFill>
                <a:latin typeface="Segoe UI"/>
              </a:rPr>
              <a:t>Conecte o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Export CSV padrão ou API para o banco Oracle. Sem projeto de TI: a carga de 684 mil eventos levou 72 segundos.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94A3B8"/>
                </a:solidFill>
                <a:latin typeface="Segoe UI"/>
              </a:rPr>
              <a:t>ORACLE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8348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Autonomous AI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33095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3309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Object Storage · DBMS_CLOUD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520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783080"/>
            <a:ext cx="26060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611880" y="2011680"/>
            <a:ext cx="566928" cy="5669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0116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432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B2545"/>
                </a:solidFill>
                <a:latin typeface="Segoe UI"/>
              </a:rPr>
              <a:t>O risco nasce dentro do banco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29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Features em SQL; Oracle Machine Learning treina e pontua cada aluno toda semana. O dado não sai da instituição.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94A3B8"/>
                </a:solidFill>
                <a:latin typeface="Segoe UI"/>
              </a:rPr>
              <a:t>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98348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11880" y="49834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OML · DBMS_DATA_MINING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533095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11880" y="53309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DBMS_SCHEDULER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520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783080"/>
            <a:ext cx="26060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Segoe U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432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B2545"/>
                </a:solidFill>
                <a:latin typeface="Segoe UI"/>
              </a:rPr>
              <a:t>A fila chega à coordenação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429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Segunda, 8h: quem chamar, por quê, quando (19h–22h) e o que dizer, com o kit de retomada.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94A3B8"/>
                </a:solidFill>
                <a:latin typeface="Segoe UI"/>
              </a:rPr>
              <a:t>ORACLE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98348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46520" y="49834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APEX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533095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46520" y="53309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Select AI (perguntas em português)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520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1783080"/>
            <a:ext cx="26060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281160" y="2011680"/>
            <a:ext cx="566928" cy="5669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0116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Segoe U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7432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B2545"/>
                </a:solidFill>
                <a:latin typeface="Segoe UI"/>
              </a:rPr>
              <a:t>O resultado volta em R$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429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Contato registrado em um clique; receita preservada medida; o modelo retreina com o que funcionou.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94A3B8"/>
                </a:solidFill>
                <a:latin typeface="Segoe UI"/>
              </a:rPr>
              <a:t>ORACLE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498348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281160" y="49834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Views JSON · Duality 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81160" y="533095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81160" y="53309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Retreino mensal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Sem servidor de ML, sem cientista de dados dedicado, sem ETL externo · LGPD por arquitetura · executado no Oracle AI Database 26ai; caminho para o Autonomous na OCI documentado (runbook de 60 min).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  <p:pic>
        <p:nvPicPr>
          <p:cNvPr id="50" name="Picture 4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DEMONSTRAÇÃO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Painel da diretoria, fila da coordenação, base 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5895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ashboard_hero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59" y="1874519"/>
            <a:ext cx="7396480" cy="4160520"/>
          </a:xfrm>
          <a:prstGeom prst="roundRect">
            <a:avLst>
              <a:gd name="adj" fmla="val 6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830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41080" y="1856231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Visão da diretoria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A4A5C"/>
                </a:solidFill>
                <a:latin typeface="Segoe UI"/>
              </a:rPr>
              <a:t>alunos para chamar esta semana e receita anual em risco, em R$ — com o ticket da própria 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6974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41080" y="27706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Fila de segunda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632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A4A5C"/>
                </a:solidFill>
                <a:latin typeface="Segoe UI"/>
              </a:rPr>
              <a:t>196 alunos ordenados por risco; clique abre o motivo em linguagem simples e a ação sugerida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6118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41080" y="36850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Mapa de atrito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9776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A4A5C"/>
                </a:solidFill>
                <a:latin typeface="Segoe UI"/>
              </a:rPr>
              <a:t>fase × capítulo: onde o conteúdo trava e o que ajustar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5262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41080" y="45994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Para o time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8920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A4A5C"/>
                </a:solidFill>
                <a:latin typeface="Segoe UI"/>
              </a:rPr>
              <a:t>métricas, calibração e estabilidade do modelo — em uma aba separada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548640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58200" y="548640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lucashenklain.github.io/retena/dashboard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  <p:pic>
        <p:nvPicPr>
          <p:cNvPr id="22" name="Picture 21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FUNCIONA? TESTAMOS NO FUTURO, SEM RETOQUE.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Treinado até maio, testado de junho a agosto.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6B4A"/>
                </a:solidFill>
                <a:latin typeface="Segoe UI"/>
              </a:rPr>
              <a:t>95 em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5176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alunos apontados como alto risco de fato ficaram inativos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78308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679192" y="1874519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265176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mais acerto do que escolher ao acaso quem chamar (top-20%)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78308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45151" y="1874519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0,88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265176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AUC-ROC no teste temporal; 88% de precisão no top-20%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3931920"/>
          <a:ext cx="585216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675120" y="1783080"/>
            <a:ext cx="4983480" cy="2286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0372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Não é só a nossa amostra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28600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Mesmo método em </a:t>
            </a:r>
            <a:r>
              <a:rPr sz="1150" b="1" i="0">
                <a:solidFill>
                  <a:srgbClr val="2EC4B6"/>
                </a:solidFill>
                <a:latin typeface="Segoe UI"/>
              </a:rPr>
              <a:t>24.392 alunos</a:t>
            </a:r>
            <a:r>
              <a:rPr sz="1150" b="0" i="0">
                <a:solidFill>
                  <a:srgbClr val="FFFFFF"/>
                </a:solidFill>
                <a:latin typeface="Segoe UI"/>
              </a:rPr>
              <a:t> da Open University (OULAD, Reino Unido): </a:t>
            </a:r>
            <a:r>
              <a:rPr sz="1150" b="1" i="0">
                <a:solidFill>
                  <a:srgbClr val="2EC4B6"/>
                </a:solidFill>
                <a:latin typeface="Segoe UI"/>
              </a:rPr>
              <a:t>AUC 0,92 e 3,5× de acerto</a:t>
            </a:r>
            <a:r>
              <a:rPr sz="1150" b="0" i="0">
                <a:solidFill>
                  <a:srgbClr val="FFFFFF"/>
                </a:solidFill>
                <a:latin typeface="Segoe UI"/>
              </a:rPr>
              <a:t> no top-20% — outra instituição, outro país, outro LMS. Também rodou dentro do Oracle: Random Forest in-database com AUC 0,949.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206240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O que dizemos com honestidade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72287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4626864"/>
            <a:ext cx="436168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Amostra de um curso: retreino com os dados de cada IES antes de produção.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518227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5086258"/>
            <a:ext cx="436168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Prevemos 21 dias de silêncio, não o cancelamento: é o ponto em que o contato ainda funciona.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5641665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5545653"/>
            <a:ext cx="436168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Entre alunos ainda ativos, antecipar é mais difícil (AUC 0,74) — e é aí que a fila prioriza.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  <p:pic>
        <p:nvPicPr>
          <p:cNvPr id="27" name="Picture 26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POR QUE DENTRO DO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O modelo mora onde o dado já mora.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520440" cy="822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Segurança e LGPD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8F85"/>
                </a:solidFill>
                <a:latin typeface="Segoe UI"/>
              </a:rPr>
              <a:t>A objeção nº 1 da diretoria desaparece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5808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62072"/>
            <a:ext cx="2852928" cy="829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O dado do aluno nunca sai do banco que a IES já controla: sem ETL externo, sem servidor de ML, sem nuvem de terceiros.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7936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783348"/>
            <a:ext cx="2852928" cy="645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Pseudonimização fora do painel; TDE, auditoria e perfis de acesso nativos do Autonomous.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616037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520025"/>
            <a:ext cx="2852928" cy="460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Base legal: execução do contrato educacional e apoio acadêmico.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97679" y="1783080"/>
            <a:ext cx="3520440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26279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Sem projeto de 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8F85"/>
                </a:solidFill>
                <a:latin typeface="Segoe UI"/>
              </a:rPr>
              <a:t>Da carga à primeira fila em 30 dias</a:t>
            </a:r>
          </a:p>
        </p:txBody>
      </p:sp>
      <p:sp>
        <p:nvSpPr>
          <p:cNvPr id="18" name="Oval 17"/>
          <p:cNvSpPr/>
          <p:nvPr/>
        </p:nvSpPr>
        <p:spPr>
          <a:xfrm>
            <a:off x="4526279" y="295808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2862072"/>
            <a:ext cx="2852928" cy="829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Features em SQL, treino e scoring com Oracle Machine Learning (DBMS_DATA_MINING), job semanal com DBMS_SCHEDULER.</a:t>
            </a:r>
          </a:p>
        </p:txBody>
      </p:sp>
      <p:sp>
        <p:nvSpPr>
          <p:cNvPr id="20" name="Oval 19"/>
          <p:cNvSpPr/>
          <p:nvPr/>
        </p:nvSpPr>
        <p:spPr>
          <a:xfrm>
            <a:off x="4526279" y="387936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783348"/>
            <a:ext cx="2852928" cy="645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Painel em APEX e perguntas em português com Select AI — sem cientista de dados dedicado na IES.</a:t>
            </a:r>
          </a:p>
        </p:txBody>
      </p:sp>
      <p:sp>
        <p:nvSpPr>
          <p:cNvPr id="22" name="Oval 21"/>
          <p:cNvSpPr/>
          <p:nvPr/>
        </p:nvSpPr>
        <p:spPr>
          <a:xfrm>
            <a:off x="4526279" y="4616037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4520025"/>
            <a:ext cx="2852928" cy="460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Entrada por CSV padrão do LMS (Object Storage + DBMS_CLOUD).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46719" y="1783080"/>
            <a:ext cx="3520440" cy="822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75319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Escala e canal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8F85"/>
                </a:solidFill>
                <a:latin typeface="Segoe UI"/>
              </a:rPr>
              <a:t>Margem de software, venda por ecossistema</a:t>
            </a:r>
          </a:p>
        </p:txBody>
      </p:sp>
      <p:sp>
        <p:nvSpPr>
          <p:cNvPr id="28" name="Oval 27"/>
          <p:cNvSpPr/>
          <p:nvPr/>
        </p:nvSpPr>
        <p:spPr>
          <a:xfrm>
            <a:off x="8275319" y="295808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1" y="2862072"/>
            <a:ext cx="2852928" cy="829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Um schema por IES no Autonomous Serverless com auto-scaling: custo marginal por aluno próximo de zero, margem bruta alvo de 80%.</a:t>
            </a:r>
          </a:p>
        </p:txBody>
      </p:sp>
      <p:sp>
        <p:nvSpPr>
          <p:cNvPr id="30" name="Oval 29"/>
          <p:cNvSpPr/>
          <p:nvPr/>
        </p:nvSpPr>
        <p:spPr>
          <a:xfrm>
            <a:off x="8275319" y="387936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1" y="3783348"/>
            <a:ext cx="2852928" cy="645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ERPs acadêmicos e megagrupos já rodam Oracle: a Retena entra como extensão do que a IES tem.</a:t>
            </a:r>
          </a:p>
        </p:txBody>
      </p:sp>
      <p:sp>
        <p:nvSpPr>
          <p:cNvPr id="32" name="Oval 31"/>
          <p:cNvSpPr/>
          <p:nvPr/>
        </p:nvSpPr>
        <p:spPr>
          <a:xfrm>
            <a:off x="8275319" y="4616037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1" y="4520025"/>
            <a:ext cx="2852928" cy="460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3A4A5C"/>
                </a:solidFill>
                <a:latin typeface="Segoe UI"/>
              </a:rPr>
              <a:t>Portátil para qualquer LMS Moodle-like — provado no OULAD.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pic>
        <p:nvPicPr>
          <p:cNvPr id="36" name="Picture 35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INTEGRAÇÃO EXECUTADA, NÃO DESENHADA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Oracle AI Database 26ai + OML: já roda.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videnci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62" y="1856231"/>
            <a:ext cx="4180114" cy="420624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78308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0" y="1911095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7451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eventos do LMS carregados no banco via python-oracledb em 72 segundos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88036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0" y="300837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3 modelos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9718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Random Forest e GLM treinados dentro do banco com DBMS_DATA_MINING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977639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0" y="4105655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AUC 0,949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06907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Random Forest in-database no teste temporal (protocolo próprio, complementar ao 0,88 do pipeline Python)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07492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0" y="520293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SQL +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16635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PREDICTION_PROBABILITY e PREDICTION_DETAILS; views JSON, Duality View, MERGE idempotente e job semanal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614476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9D6E4"/>
                </a:solidFill>
                <a:latin typeface="Segoe UI"/>
              </a:rPr>
              <a:t>Evidências com timestamps em 06_Oracle/evidencias · reexecutado em 22/09/2026 sem erros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11</a:t>
            </a:r>
          </a:p>
        </p:txBody>
      </p:sp>
      <p:pic>
        <p:nvPicPr>
          <p:cNvPr id="23" name="Picture 22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FERRAMENTAS ORACLE, CADA UMA NO SEU PAPEL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O que já roda e o que vem no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384048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Ferramenta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10512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Papel na Retena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1051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12848"/>
            <a:ext cx="11109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Oracle AI Database 26ai (Free, 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12848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Banco da IES: 684.723 eventos, features em SQL, tabelas e snapshot de risco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2860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0" y="22860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Executado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42615"/>
            <a:ext cx="11109960" cy="402336"/>
          </a:xfrm>
          <a:prstGeom prst="rect">
            <a:avLst/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42615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Oracle Machine Learning · DBMS_DATA_MINING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42615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Random Forest e GLM treinados no banco; PREDICTION_PROBABILITY e PREDICTION_DETAILS dão score e motivo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71576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0" y="27157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Executado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72384"/>
            <a:ext cx="11109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3072384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Views de scoring + JSON Duality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72384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Risco por aluno pronto para APEX, API e Select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314553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0" y="314553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Executado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2152"/>
            <a:ext cx="11109960" cy="402336"/>
          </a:xfrm>
          <a:prstGeom prst="rect">
            <a:avLst/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3502152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DBMS_SCHEDULER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502152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Job semanal: recalcula features e scores todo domingo à noite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357530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58400" y="35753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Executado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11109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3931920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python-oracledb (thin) + MERGE idempotente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931920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Carga do export do LMS em 72 s; snapshot semanal sem duplicar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400507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058400" y="400507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Executado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61688"/>
            <a:ext cx="11109960" cy="402336"/>
          </a:xfrm>
          <a:prstGeom prst="rect">
            <a:avLst/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1520" y="436168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Autonomous AI Database Serverless (OCI)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361688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Produção multi-IES: um schema por cliente, auto-scaling; runbook de 60 min pronto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44348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58400" y="44348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Runbook pronto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791456"/>
            <a:ext cx="11109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31520" y="4791456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Object Storage + DBMS_CLOUD.COPY_DATA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791456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Ingestão do CSV padrão do LMS direto na nuvem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86460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058400" y="486460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2545"/>
                </a:solidFill>
                <a:latin typeface="Segoe UI"/>
              </a:rPr>
              <a:t>Runbook pronto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21224"/>
            <a:ext cx="11109960" cy="402336"/>
          </a:xfrm>
          <a:prstGeom prst="rect">
            <a:avLst/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1520" y="5221224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APEX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221224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Painel da coordenação e da diretoria (hoje: dashboard web publicado)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529437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058400" y="5294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3A4A5C"/>
                </a:solidFill>
                <a:latin typeface="Segoe UI"/>
              </a:rPr>
              <a:t>NEXT 24/10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650992"/>
            <a:ext cx="11109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31520" y="5650992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1" i="0">
                <a:solidFill>
                  <a:srgbClr val="0B2545"/>
                </a:solidFill>
                <a:latin typeface="Segoe UI"/>
              </a:rPr>
              <a:t>Select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5650992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Perguntas em português sobre a base: "quem parou no capítulo 2 da fase 5?"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572414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058400" y="572414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3A4A5C"/>
                </a:solidFill>
                <a:latin typeface="Segoe UI"/>
              </a:rPr>
              <a:t>Roadmap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5 de 9 componentes executados e evidenciados; os demais têm runbook com números esperados para conferência (06_Oracle/oci).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pic>
        <p:nvPicPr>
          <p:cNvPr id="56" name="Picture 55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MODELO DE NEGÓCIO · A INSTITUIÇÃO PAGA POR QUEM AINDA ESTÁ LÁ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Assinatura por aluno ativo, por mês.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2EC4B6"/>
                </a:solidFill>
                <a:latin typeface="Segoe UI"/>
              </a:rPr>
              <a:t>R$ 4,00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por aluno ativo, por mês — faixa de 10 a 50 mil alunos (plano Pro)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1828800" cy="16002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1828800" cy="64008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Essencial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75887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R$ 2,00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9D6E4"/>
                </a:solidFill>
                <a:latin typeface="Segoe UI"/>
              </a:rPr>
              <a:t>até 5 mil alunos · funcionalidades reduzidas · mín. R$ 2,5 mil/mês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246120"/>
            <a:ext cx="1828800" cy="16002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514600" y="3246120"/>
            <a:ext cx="1828800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338328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675887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R$ 6,00 → 4,00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11480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9D6E4"/>
                </a:solidFill>
                <a:latin typeface="Segoe UI"/>
              </a:rPr>
              <a:t>1 a 50 mil alunos · fila, atrito, painel em R$ · mín. R$ 5 mil/mês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246120"/>
            <a:ext cx="1828800" cy="16002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480559" y="3246120"/>
            <a:ext cx="1828800" cy="64008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17720" y="338328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75887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R$ 3,00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9D6E4"/>
                </a:solidFill>
                <a:latin typeface="Segoe UI"/>
              </a:rPr>
              <a:t>megagrupos, acima de 50 mil · fase 2, via ecossistema Oracle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Setup e integração ao LMS: R$ 10–25 mil · Porta de entrada: piloto de 90 dias em uma fase de um curso por R$ 5 mil, com meta de rematrícula acordada e conversão automática em contrato anual · Margem bruta alvo: 80%.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 CONTA DO CLIENTE-REFERÊNCIA · 12 MIL ALUNOS 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94560"/>
            <a:ext cx="498348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0" y="23042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R$ 576 mil / 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61488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12.000 alunos × R$ 4,00 × 12 meses (+ setup único de R$ 20 mil)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520439"/>
            <a:ext cx="498348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0" y="363016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137 alunos retidos pagam tudo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87368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1,1% da base, a R$ 4.200/ano de receita preservada por aluno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846320"/>
            <a:ext cx="498348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0" y="49560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R$ 500 mil por ponto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413248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cada 1 p.p. de desistência evitado (~120 alunos) vale ~R$ 500 mil/ano (ticket estimado de R$ 350/mês)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61722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9D6E4"/>
                </a:solidFill>
                <a:latin typeface="Segoe UI"/>
              </a:rPr>
              <a:t>Calculadora com os parâmetros da sua IES em lucashenklain.github.io/retena (seção ROI).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13</a:t>
            </a:r>
          </a:p>
        </p:txBody>
      </p:sp>
      <p:pic>
        <p:nvPicPr>
          <p:cNvPr id="37" name="Picture 36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MARKETING DIGITAL E AQUISIÇÃO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Da landing page ao contrato, medindo cada etapa.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933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Atrair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Landing page com vídeo de vendas (VSL), calculadora de ROI e agendamento — já publicados. Conteúdo "Mapa da evasão EAD" (INEP/Semesp), LinkedIn/ABM para diretores de operações, eventos Semesp e ABED.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11880" y="19659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933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Diagnosticar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6032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Diagnóstico gratuito: a IES envia o export do LMS e em 7 dias recebe o painel de receita em risco em R$ — a mesma carga que fizemos em 72 s. É a isca que vende para o sponsor.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9933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Provar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Piloto de 90 dias por R$ 5 mil, em uma fase de um curso, com meta de rematrícula contratual. Painel da diretoria acompanha a receita preservada semana a semana.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7830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281160" y="19659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9933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Expandir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56032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3A4A5C"/>
                </a:solidFill>
                <a:latin typeface="Segoe UI"/>
              </a:rPr>
              <a:t>Contrato anual e expansão para outras fases e cursos; megagrupos e ERPs acadêmicos via ecossistema Oracle (Oracle for Startups e parceiros).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METAS DO ANO 1 (MEDIDAS NO FUNIL, NÃO PROMETIDAS)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8F85"/>
                </a:solidFill>
                <a:latin typeface="Segoe UI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diagnósticos gratuitos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A4A5C"/>
                </a:solidFill>
                <a:latin typeface="Segoe UI"/>
              </a:rPr>
              <a:t>meta de conversão: 1 em 5 vira piloto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5029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566160" y="5074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8F85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pilotos de 90 dias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760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A4A5C"/>
                </a:solidFill>
                <a:latin typeface="Segoe UI"/>
              </a:rPr>
              <a:t>R$ 5 mil cada cobre o custo do diagnóstico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029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0" y="5074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8F85"/>
                </a:solidFill>
                <a:latin typeface="Segoe UI"/>
              </a:rPr>
              <a:t>2–3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contratos anuais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760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A4A5C"/>
                </a:solidFill>
                <a:latin typeface="Segoe UI"/>
              </a:rPr>
              <a:t>~R$ 0,5 mi de ARR no fim do ano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5029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35440" y="5074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8F85"/>
                </a:solidFill>
                <a:latin typeface="Segoe UI"/>
              </a:rPr>
              <a:t>&lt; 1 trimestre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para pagar o CAC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760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A4A5C"/>
                </a:solidFill>
                <a:latin typeface="Segoe UI"/>
              </a:rPr>
              <a:t>meta: custo de aquisição abaixo de 3 meses de assinatura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pic>
        <p:nvPicPr>
          <p:cNvPr id="46" name="Picture 45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5,2 milhões de alunos EAD · 2.244 IES privadas.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R$ 249 mi/ano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5,19 mi matrículas EAD (INEP 2024) × R$ 4 × 12 meses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7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R$ 126 mi/ano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IES privadas fora dos megagrupos: ~2,6 mi alunos (Semesp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SOM · 3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Segoe UI"/>
              </a:rPr>
              <a:t>R$ 2,5–4,3 mi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2545"/>
                </a:solidFill>
                <a:latin typeface="Segoe UI"/>
              </a:rPr>
              <a:t>8–12 IES médias (~52 mil alunos) + 1 megagrupo piloto via canal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GO-TO-MARKET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93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3 pilotos de 90 dias + 2–3 contratos (~R$ 0,5 mi ARR); Autonomous Always Free → pago; entrada por CSV padrão do LMS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663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80559" y="4773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Ano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093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6 IES médias (~R$ 1,4 mi ARR); módulo de conteúdo adaptativo; integração WhatsApp; APEX + Select AI em produção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4663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9" y="4773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Ano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5093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10–12 IES + 1 megagrupo via ecossistema Oracle (R$ 2,5–4,3 mi ARR); ensino técnico e corporativo com o mesmo método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pic>
        <p:nvPicPr>
          <p:cNvPr id="28" name="Picture 2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IMPACTO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Cada aluno retido é uma formatura e uma receita.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892807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ALUNO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chega à formatura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porque alguém percebeu o silêncio e ligou na hora certa, com um plano — não uma cobrança.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0815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INSTITUIÇÃO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R$ 500 mil por ponto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1089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cada 1 p.p. de desistência evitado na IES de 12 mil alunos; 137 alunos retidos pagam a Retena.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2702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SOCIEDADE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mais formandos no 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9768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que já é metade do ensino superior brasileiro — e o caminho de quem trabalha de 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PRÓXIMOS PASSOS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203704"/>
            <a:ext cx="237744" cy="237744"/>
          </a:xfrm>
          <a:prstGeom prst="ellipse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1968" y="2459736"/>
            <a:ext cx="27432" cy="27432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23/09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1488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Banca Final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770632"/>
            <a:ext cx="237744" cy="237744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01968" y="3026664"/>
            <a:ext cx="27432" cy="27432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58000" y="27157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24/10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715768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NEXT: demonstração no Autonomous AI Database com painel APEX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337560"/>
            <a:ext cx="237744" cy="237744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1968" y="3593591"/>
            <a:ext cx="27432" cy="27432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0" y="32826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Nov–Fev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82696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Piloto de 90 dias em uma fase de um curso, com meta de rematrícula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3904487"/>
            <a:ext cx="237744" cy="237744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84962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849624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Conteúdo adaptativo, WhatsApp e megagrupos via canal Oracle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2628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QUE PEDIMOS À BANCA E AO ECOSSISTEMA ORACLE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846320"/>
            <a:ext cx="1645920" cy="128016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01968" y="4919472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Autonomous AI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5394960"/>
            <a:ext cx="14264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apoio para o Always Free e a primeira aplicação APEX antes do NEXT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846320"/>
            <a:ext cx="1645920" cy="128016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39327" y="4919472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Uma IES parceira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5394960"/>
            <a:ext cx="14264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piloto de 90 dias com dados anonimizados e meta acordada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59" y="4846320"/>
            <a:ext cx="1645920" cy="128016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076687" y="4919472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Mentoria comercial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76687" y="5394960"/>
            <a:ext cx="14264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venda ao sponsor de operações e acesso a grupos que já rodam Oracle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16</a:t>
            </a:r>
          </a:p>
        </p:txBody>
      </p:sp>
      <p:pic>
        <p:nvPicPr>
          <p:cNvPr id="46" name="Picture 45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B2545"/>
                </a:solidFill>
                <a:latin typeface="Segoe UI"/>
              </a:rPr>
              <a:t>Cinco engenheiros, um problema conhecido de perto.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000" y="2148840"/>
            <a:ext cx="914400" cy="914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B2545"/>
                </a:solidFill>
                <a:latin typeface="Segoe UI"/>
              </a:rPr>
              <a:t>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Lucas Dalmas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RM551178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1605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Líder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401568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Lucas Emanuel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RM97881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60136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Kayque Moraes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RM97592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918704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8704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Lucas Henklain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RM99350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177272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7272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VP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Vinicius Pinheiro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RM99198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Como trabalhamos: </a:t>
            </a:r>
            <a:r>
              <a:rPr sz="1050" b="0" i="0">
                <a:solidFill>
                  <a:srgbClr val="3A4A5C"/>
                </a:solidFill>
                <a:latin typeface="Segoe UI"/>
              </a:rPr>
              <a:t>base real de 684.723 eventos analisada com validação temporal; modelo treinado dentro do Oracle e evidenciado com logs; dashboard, landing page, calculadora de ROI e vídeo produzidos pelo time; benchmark e portabilidade em um segundo dataset público. Tudo reproduzível e publicado em github.com/LucasHenklain/retena.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pic>
        <p:nvPicPr>
          <p:cNvPr id="39" name="Picture 38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matur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7869936" y="2365248"/>
            <a:ext cx="3189732" cy="1542288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203200" cap="rnd">
            <a:solidFill>
              <a:srgbClr val="2EC4B6">
                <a:alpha val="50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986" y="1856994"/>
            <a:ext cx="595884" cy="595884"/>
          </a:xfrm>
          <a:prstGeom prst="ellipse">
            <a:avLst/>
          </a:prstGeom>
          <a:solidFill>
            <a:srgbClr val="2EC4B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2746248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VAMOS CONVERSAR?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Ninguém desiste de repente.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9D6E4"/>
                </a:solidFill>
                <a:latin typeface="Segoe UI"/>
              </a:rPr>
              <a:t>A evasão não é um evento. É um silêncio que dura semanas. A Retena escuta esse silêncio, dentro do banco que a instituição já usa, e devolve tempo para quem pode agir.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83480"/>
            <a:ext cx="1051560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5029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Vídeo pitch (4:48)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537667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youtu.be/HZrcLvIJCC4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8920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983480"/>
            <a:ext cx="1051560" cy="1051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5029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Site, calculadora 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37667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lucashenklain.github.io/retena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8920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re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983480"/>
            <a:ext cx="1051560" cy="1051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55480" y="5029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Repositório e evidências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37667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github.com/LucasHenklain/retena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Lucas Dalmas · Lucas Emanuel · Kayque Moraes · Lucas Henklain · Vinicius Pinheiro — Engenharia de Software, FIAP 4ESOA · Startup One / Enterprise Challenge Oracle 2026 · Obrigado.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APÊNDICE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Material de apoio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C9D6E4"/>
                </a:solidFill>
                <a:latin typeface="Segoe UI"/>
              </a:rPr>
              <a:t>para as perguntas da banca.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9D6E4"/>
                </a:solidFill>
                <a:latin typeface="Segoe UI"/>
              </a:rPr>
              <a:t>A1 Prints da demonstração (reserva) · A2 Métricas completas · A3 Fluxo de dados e ML · A4 OULAD em detalhe · A5 Por que split temporal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9D6E4"/>
                </a:solidFill>
                <a:latin typeface="Segoe UI"/>
              </a:rPr>
              <a:t>A6 LGPD e caminho OCI · A7 Jornada da usuária · A8 Riscos e mitigação · A9 Rich picture e stakeholders · A10 Benchmark de modelos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9D6E4"/>
                </a:solidFill>
                <a:latin typeface="Segoe UI"/>
              </a:rPr>
              <a:t>A11 Diferencial × alternativas · A12 Validação estruturada (H1–H6) · A13 Mapa de atrito · A14 Evidência na base real · A15 Arquitetura Oracle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19</a:t>
            </a:r>
          </a:p>
        </p:txBody>
      </p:sp>
      <p:pic>
        <p:nvPicPr>
          <p:cNvPr id="9" name="Picture 8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 · PRINTS DA DEMONSTRAÇÃO (RESERVA)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Fila de segunda com motivo e ação; mapa de atrito.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ashboard_f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8825"/>
            <a:ext cx="5303520" cy="2983229"/>
          </a:xfrm>
          <a:prstGeom prst="roundRect">
            <a:avLst>
              <a:gd name="adj" fmla="val 6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731520" y="52578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Fila de segunda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961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Cada linha: fase, situação, recência, tendência, probabilidade, faixa, fatores em linguagem simples e ação sugerida. Clique no aluno abre o painel de detalhe.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ashboard_at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8825"/>
            <a:ext cx="5303520" cy="2983229"/>
          </a:xfrm>
          <a:prstGeom prst="roundRect">
            <a:avLst>
              <a:gd name="adj" fmla="val 6000"/>
            </a:avLst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525780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5080" y="5257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Mapa de atrito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5961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Fase × capítulo com taxa de queda e esforço; as 8 maiores fricções e as 20 recomendações priorizadas para a coordenação pedagógica.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20</a:t>
            </a:r>
          </a:p>
        </p:txBody>
      </p:sp>
      <p:pic>
        <p:nvPicPr>
          <p:cNvPr id="16" name="Picture 15" descr="retena_horizontal_escuro_sobre_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A2 · MÉTRICAS COMPLETAS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HGB × regressão logística, conjunto completo e subconjunto acionável (teste jun–ago/2026).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583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554480"/>
                <a:gridCol w="118872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Métrica (teste, n = 1.609, positivos 28,8%)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HGB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Logística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0,893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Brier (menor é melhor)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0,120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0,101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Precisão @ 0,5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0,924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0,895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Recall @ 0,5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0,580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F1 @ 0,5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0,713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Precisão @ top-20% (k = 322)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0,919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Recall capturado no top-20%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0,612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0,638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Lift no top-20%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3,06×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3,19×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0" y="1783080"/>
          <a:ext cx="4251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Subconjunto acionável (n = 1.298; 14,7%)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HGB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Logística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0,460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0,494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Precisão @ top-20%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0,377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0,396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Lift no top-20%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2,56×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2,69×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4023360"/>
          <a:ext cx="42519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914400"/>
                <a:gridCol w="1645920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Faixa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Inatividade observada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Alto (≥ 0,60)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95,2%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Médio (0,30–0,60)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48,7%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Baixo (&lt; 0,30)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1.297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14,3%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Protocolo: treino cortes &lt; 01/06/2026 com embargo de 21 dias (2.126 linhas, 16 cortes, 167 alunos, 10,1% positivos); teste cortes ≥ 01/06 (1.609 linhas, 9 cortes, 183 alunos, 28,8%). Matriz de confusão do HGB @ 0,5: VN 1.123 · FP 22 · FN 195 · VP 269. Hiperparâmetros por validação temporal interna (learning rate 0,05; 300 iterações; 8 folhas; mín. 40 por folha; L2 = 2). Estabilidade por corte: AUC-ROC de 0,80 a 0,97. Modelo secundário (transição de fases): AUC média 0,926 em leave-one-phase-out. Fonte: 05_MVP/outputs/RESULTADOS.md.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21</a:t>
            </a:r>
          </a:p>
        </p:txBody>
      </p:sp>
      <p:pic>
        <p:nvPicPr>
          <p:cNvPr id="10" name="Picture 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A3 · FLUXO DE DADOS 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Do log bruto à fila semanal.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2237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7_fluxo_dados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0665"/>
            <a:ext cx="7040880" cy="38790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783080"/>
            <a:ext cx="36576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Importância por permutação (top 12)</a:t>
            </a:r>
          </a:p>
        </p:txBody>
      </p:sp>
      <p:pic>
        <p:nvPicPr>
          <p:cNvPr id="8" name="Picture 7" descr="fig_impor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963043"/>
            <a:ext cx="3474720" cy="1480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52120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Dias ativos acumulados, dias ativos em 28 dias, eventos acumulados e recência lideram; volume de cliques vale menos que constância — o mesmo padrão observado no OULAD.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22</a:t>
            </a:r>
          </a:p>
        </p:txBody>
      </p:sp>
      <p:pic>
        <p:nvPicPr>
          <p:cNvPr id="12" name="Picture 11" descr="retena_horizontal_escuro_sobre_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A4 · PORTABILIDADE NO OULAD EM DETALHE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Mesmo método, 24.392 alunos, split temporal 2013 → 2014.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7607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_oulad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02" y="1847088"/>
            <a:ext cx="5348994" cy="4206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1783080"/>
          <a:ext cx="51206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097280"/>
                <a:gridCol w="1005840"/>
              </a:tblGrid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Métrica (inativo_21d)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IES parceira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OULAD completo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OULAD acionável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Alunos no teste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14.293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Taxa de positivos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28,8%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20,6%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10,6%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AUC-ROC (HGB)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0,922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AUC-PR (HGB)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0,813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0,418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Precisão @ top-20%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0,724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0,342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Lift @ top-20%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3,06×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3,51×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3,23×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Faixa Alto: inatividade observada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95,2%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85,0%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Faixa Baixo: inatividade observada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14,3%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6,4%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5166360"/>
            <a:ext cx="51206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Estabilidade: AUC-ROC entre 0,858 e 0,954 nos 14 módulos-apresentações de teste; módulo CCC (só existe em 2014, nunca visto no treino): 0,931 e 0,906. Calibração quase diagonal com 400 mil linhas. Tempo total de execução: ~110 s. Fonte: 05_MVP/portabilidade_oulad/RESULTADOS_OULAD.md.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23</a:t>
            </a:r>
          </a:p>
        </p:txBody>
      </p:sp>
      <p:pic>
        <p:nvPicPr>
          <p:cNvPr id="10" name="Picture 9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A5 · POR QUE AVALIAMOS COM SPLIT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Protocolo alternativo (alvo Withdrawn, dia 30) reproduzido no OULAD.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1097280"/>
                <a:gridCol w="1097280"/>
                <a:gridCol w="1417320"/>
                <a:gridCol w="91440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Precisão @ top-20%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Lift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(a) Split aleatório 80/20 estratificado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Logística L1 balanceada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2,50×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(a) Split aleatório 80/20 estratificado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HGB Retena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0,834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0,748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0,807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2,59×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(b) Split temporal 2013 → 2014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Logística L1 balanceada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0,790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2,29×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(b) Split temporal 2013 → 2014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HGB Retena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0,821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0,754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0,828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2,45×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(c) Temporal, sem quem já se desmatriculou até o dia 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Logística L1 balanceada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1,70×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(c) Temporal, sem quem já se desmatriculou até o dia 30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HGB Retena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0,692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0,336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0,376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1,92×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548640" y="506120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965192"/>
            <a:ext cx="1080820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 inflação do split aleatório é real, mas modesta (+0,024 de AUC-ROC para a logística). O ponto decisivo: 15,7% das matrículas já tinham desmatrícula registrada até o dia 30 e são acertadas trivialmente; sem elas, o desempenho cai para AUC-ROC 0,66–0,69.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579034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694334"/>
            <a:ext cx="1080820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É o análogo do subconjunto acionável do Retena — onde o método semanal com recência e regularidade obteve AUC-ROC 0,853 no mesmo dataset e mesmo split. O grão semanal carrega muito mais sinal acionável do que uma fotografia única do dia 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24</a:t>
            </a:r>
          </a:p>
        </p:txBody>
      </p:sp>
      <p:pic>
        <p:nvPicPr>
          <p:cNvPr id="11" name="Picture 10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A6 · LGPD, SEGURANÇA E CAMINHO OCI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O dado do aluno não sai da instituição. O caminho para o Autonomous está pronto.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Privacidade e segurança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094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13432"/>
            <a:ext cx="477316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Processamento dentro do banco que a IES já controla; nenhum dado em ETL externo, servidor de ML ou nuvem de terceiros.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687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60862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Pseudonimização fora do painel ("Aluno NNNN"); dados nominais só para tutores autorizados.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16121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20109"/>
            <a:ext cx="477316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Base legal: execução do contrato educacional e legítimo interesse de apoio acadêmico; opt-in de contato registrado.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6355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67540"/>
            <a:ext cx="477316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Perfis de acesso por papel (coordenação, tutor, gestão); TDE e auditoria nativos do Autonomous; minimização: só logs de navegação.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1098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114970"/>
            <a:ext cx="4773168" cy="279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Tom de voz de apoio, nunca de cobrança ou vigilância.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Caminho OCI (06_Oracle/oci) — status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46520" y="2286000"/>
          <a:ext cx="5029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Etapa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Conexão dual (Free local / Autonomous com wallet)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Executado local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Exportação de EVENTOS_LMS para CSV gzip (684.723 linhas)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Executado (dry-run)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MERGE idempotente do snapshot de risco (2× sem duplicar)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Executado local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Object Storage + DBMS_CLOUD.COPY_DATA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Runbook (sem conta OCI)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Autonomous Always Free + usuário RETENA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Runbook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APEX, Select AI, DBMS_SCHEDULER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Runbook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46520" y="5440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Runbook estimado em 60 minutos com uma conta OCI; números esperados já documentados para conferência.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25</a:t>
            </a:r>
          </a:p>
        </p:txBody>
      </p:sp>
      <p:pic>
        <p:nvPicPr>
          <p:cNvPr id="22" name="Picture 21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A7 · JORNADA DA USUÁRIA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A semana da coordenadora de permanência com a Retena.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3_jornada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613" y="1847088"/>
            <a:ext cx="771001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26</a:t>
            </a:r>
          </a:p>
        </p:txBody>
      </p:sp>
      <p:pic>
        <p:nvPicPr>
          <p:cNvPr id="8" name="Picture 7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A8 · RISCOS E MITIGAÇÃO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O que pode dar errado e o que já está desenhado.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  <a:gridCol w="36118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Risco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Mitigação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Situação na Fase 6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Poucos dados por IES; rótulo é proxy comportamental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Validação temporal, retreino mensal, faixas lidas como prioridade relativa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Métricas honestas reportadas; portabilidade provada no OULAD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Coordenação tem dor, mas não orçamento; ciclo de venda longo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Venda ao diretor de operações com painel de receita em risco; piloto de 90 dias com meta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Dupla persona, plano Essencial e calculadora de ROI incorporados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Integração vira projeto de TI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Entrada por CSV padrão do LMS; APEX pronto em dias; primeira fila em 30 dias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Carga por export padrão validada; runbook OCI pronto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LGPD e percepção de vigilância do aluno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Processamento in-database, pseudonimização, tom de apoio, opt-in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Arquitetura in-database executada e evidenciada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Concorrência de BI embarcado; nome confundido com 'retina'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Ciclo fechado com ROI; canal Oracle; marca sempre com tagline e símbolo; nomes reserva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Manual de marca e posicionamento definidos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27</a:t>
            </a:r>
          </a:p>
        </p:txBody>
      </p:sp>
      <p:pic>
        <p:nvPicPr>
          <p:cNvPr id="7" name="Picture 6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A9 · RICH PICTURE E MAPA DE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Atualizados na Fase 6 após validação e integração Oracle.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1_rich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3518"/>
            <a:ext cx="5303520" cy="32533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_mapa_stakeh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22690"/>
            <a:ext cx="5303520" cy="32550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28</a:t>
            </a:r>
          </a:p>
        </p:txBody>
      </p:sp>
      <p:pic>
        <p:nvPicPr>
          <p:cNvPr id="10" name="Picture 9" descr="retena_horizontal_escuro_sobre_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A10 · BENCHMARK E PORTABILIDADE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O que o time acrescentou depois da entrega: mais modelos, outro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852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Benchmark no mesmo split temporal (teste jun–ago/2026)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54864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914400"/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F2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Segoe UI"/>
                        </a:rPr>
                        <a:t>HGB · HistGradientBoosting (entregue)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4A5C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4A5C"/>
                          </a:solidFill>
                          <a:latin typeface="Segoe UI"/>
                        </a:rPr>
                        <a:t>0,626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Logística baseline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0,893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0,696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Logística + balanced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0,766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Logística EduRetain (L1)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0,850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XGBoost (config EduRetain)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0,874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0,586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GradientBoosting padrão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0,811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0,543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731520" y="510692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010912"/>
            <a:ext cx="5230368" cy="602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Nenhuma configuração alternativa supera o baseline já existente; a vantagem em F2 dos modelos balanceados é efeito de limiar, não de ordenação.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754867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658855"/>
            <a:ext cx="523036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HGB permanece o modelo entregue (melhor precisão a 0,5 e rastreabilidade); o limiar 0,30 da faixa Médio recupera o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78308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0" y="19019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Portabilidade: mesmo método no OULAD (Open University, UK)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4094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313432"/>
            <a:ext cx="4361688" cy="4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32.593 matrículas e 10,66 milhões de cliques; base aluno-semana de 730.673 linhas e 24.392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93248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2836468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Mesmo rótulo, mesmas features conceituais e mesmos hiperparâmetros; split temporal: treino 2013 (11.438 alunos), teste 2014 (14.293 alunos).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3634739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3538727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AUC-ROC 0,922 e lift 3,51× no top-20% (IES parceira: 0,882 e 3,06×); faixa Alto com 85% de inatividade observada contra 6% na 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336999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4240987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As mesmas features dominam: dias ativos em 28 dias, recência e regularidade semanal. Módulo nunca visto no treino: AUC 0,93 / 0,91.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138928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95160" y="519379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O mesmo método, sem mudar arquitetura, concentrou 70% dos alunos que ficariam 3 semanas inativos nos 20% de maior risco — em outra instituição, outro país e outro LMS.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29</a:t>
            </a:r>
          </a:p>
        </p:txBody>
      </p:sp>
      <p:pic>
        <p:nvPicPr>
          <p:cNvPr id="25" name="Picture 24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A11 · DIFERENCIAL × ALTERNATIVAS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BI olha o passado, CRM cobra tarde. A Retena fecha o ciclo.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1508760"/>
                <a:gridCol w="1508760"/>
                <a:gridCol w="1508760"/>
                <a:gridCol w="1508760"/>
              </a:tblGrid>
              <a:tr h="4857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Retena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BI do LMS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CRM de cobrança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Consultoria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Antecipa o risco semanas antes (recência, tendência, capítulo)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Diz quem contatar, por quê, quando e o que dizer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Mapa de atrito de conteúdo por capítulo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Registra o resultado e mede receita preservada em R$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Roda dentro do banco da IES (LGPD, sem ETL externo)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Retreina com o resultado das intervenções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Implantação em semanas, sem cientista de dados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● atende plenamente   ◐ atende em parte   ○ não atende. Por que não foi resolvido assim antes: dado preso em relatórios descritivos; ML exigia pipeline externo e cientista de dados; ninguém fechava o ciclo com ROI — e o EAD só virou maioria em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30</a:t>
            </a:r>
          </a:p>
        </p:txBody>
      </p:sp>
      <p:pic>
        <p:nvPicPr>
          <p:cNvPr id="8" name="Picture 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A12 · VALIDAÇÃO ESTRUTURADA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Dados reais, fontes de mercado e entrevistas com roteiro.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Hipóteses H1–H6 · status após a Fase 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86584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H1 · A IES descobre a evasão tarde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6/6 percebem em ≥ 2 semanas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08376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53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H2 · Sinais do LMS antecipam a evasão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535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AUC 0,88 no teste temporal; 0,92 no OULAD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30168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H3 · Tutores não conseguem 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7530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5/6 priorizam de forma intuitiva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51959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9709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H4 · Conteúdo tem atrito identificável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970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4/6 citam capítulos específicos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73751"/>
            <a:ext cx="182880" cy="1828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H5 · Disposição a pagar por aluno/mês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8188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coordenação R$ 1–3; sponsor R$ 3–4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495544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H6 · Integração por export é aceitável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4406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6/6 têm export de logs acessível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O que as entrevistas mudaram na proposta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24094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2313432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Venda ao sponsor de operações (receita em risco em R$); uso diário pela coordenação.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295040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2854391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Plano Essencial para IES pequenas: a dor existe, o orçamento é mínimo.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349136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395350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Template de mensagem, janela 19h–22h e "kit de retomada" em cada linha da fila.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4032321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3936309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Registro de resultado em um clique; WhatsApp no primeiro trimestre pós-piloto.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57328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4477268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Piloto com meta de rematrícula contratual; argumento LGPD explícito.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230368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0" y="5276088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A4A5C"/>
                </a:solidFill>
                <a:latin typeface="Segoe UI"/>
              </a:rPr>
              <a:t>Nota: as 8 entrevistas foram simuladas com personas sintéticas (perfis-alvo e base real) para calibrar o instrumento; 6 institucionais entram na contagem x/6 e 2 com alunos calibraram H4 e H5. Serão confirmadas em campo antes do piloto.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31</a:t>
            </a:r>
          </a:p>
        </p:txBody>
      </p:sp>
      <p:pic>
        <p:nvPicPr>
          <p:cNvPr id="40" name="Picture 3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A13 · ONDE OS ALUNOS TRAVAM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Atrito de conteúdo: conhecido de ouvido, nunca medido.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_atrit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675451"/>
            <a:ext cx="6675120" cy="255865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0" y="195224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1" y="1856231"/>
            <a:ext cx="3538728" cy="91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Mapa fase × capítulo: taxa de queda (alunos que chegaram ao capítulo e não avançaram) ponderada pelo esforço relativo.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299612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2900111"/>
            <a:ext cx="3538728" cy="70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Cauda de travamento nos capítulos 1–3 de todas as fases; na F5 (em andamento), 25 alunos parados nos caps 1–2.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383389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1" y="3737884"/>
            <a:ext cx="3538728" cy="70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Piores capítulos encerrados: Cap 2 da F4 ("Estudo de Caso", esforço 3,4× o típico), Cap 2 da F3 e Cap 11 da F2.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4671669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4575657"/>
            <a:ext cx="3538728" cy="70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Conteúdo quase só em HTML (323 mil eventos) contra 18,6 mil em PDF e quase nada em vídeo e áudio.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550944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5413430"/>
            <a:ext cx="3538728" cy="91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Cada célula vira uma recomendação para a coordenação pedagógica: dividir o capítulo, inserir quiz de checagem, oferecer vídeo curto.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32</a:t>
            </a:r>
          </a:p>
        </p:txBody>
      </p:sp>
      <p:pic>
        <p:nvPicPr>
          <p:cNvPr id="18" name="Picture 17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A14 · EVIDÊNCIA NA BASE REAL (ANONIMIZADA)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O LMS já sabia. Só faltava alguém ouvir.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92807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eventos de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203 alunos · 5 fases · jan–ago/2026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61 alunos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008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30% da turma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há mais de 14 dias sem acesso, em um único dia — sem alerta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142231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0873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dos ingressantes perdidos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em 7 meses: funil 94% → 94% → 92% → 88%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52395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19h–22h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846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pico de estudo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4864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de segunda a quinta: o aluno trabalhador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852160" y="1783080"/>
          <a:ext cx="58521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9D6E4"/>
                </a:solidFill>
                <a:latin typeface="Segoe UI"/>
              </a:rPr>
              <a:t>Fase 5 em andamento (ago/2026). 9 alunos aparecem só na F1; 8 param após a F4.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33</a:t>
            </a:r>
          </a:p>
        </p:txBody>
      </p:sp>
      <p:pic>
        <p:nvPicPr>
          <p:cNvPr id="26" name="Picture 25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A15 · ARQUITETURA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ML in-database: do export do LMS ao painel, sem o dado sair do banco.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8638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6_arquitetura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39" y="1847088"/>
            <a:ext cx="6997441" cy="42062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0" y="190652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42832" y="1810512"/>
            <a:ext cx="2715768" cy="1077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Oracle Autonomous AI Database 26ai: eventos, features em SQL, treino e scoring in-database com Oracle Machine Learning (DBMS_DATA_MINING).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3129991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3033979"/>
            <a:ext cx="2715768" cy="880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PREDICTION_PROBABILITY e PREDICTION_DETAILS geram score e motivo; views JSON alimentam APEX, Select AI e API.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415631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4060301"/>
            <a:ext cx="2715768" cy="880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APEX para o painel; Select AI para perguntas em português; Object Storage e DBMS_SCHEDULER para ingestão e retreino.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518263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5086624"/>
            <a:ext cx="2715768" cy="880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O dado do aluno não sai da instituição: LGPD por arquitetura, sem servidor de ML nem cientista de dados dedicado.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34</a:t>
            </a:r>
          </a:p>
        </p:txBody>
      </p:sp>
      <p:pic>
        <p:nvPicPr>
          <p:cNvPr id="16" name="Picture 15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