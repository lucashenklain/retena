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Alunos da Fase 1 que seguem ativos em cada fase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Alunos ativos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</c:spPr>
          </c:dPt>
          <c:dPt>
            <c:idx val="1"/>
            <c:spPr>
              <a:solidFill>
                <a:srgbClr val="2EC4B6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dPt>
            <c:idx val="3"/>
            <c:spPr>
              <a:solidFill>
                <a:srgbClr val="2EC4B6"/>
              </a:solidFill>
            </c:spPr>
          </c:dPt>
          <c:dPt>
            <c:idx val="4"/>
            <c:spPr>
              <a:solidFill>
                <a:srgbClr val="FFB703"/>
              </a:solidFill>
            </c:spPr>
          </c:dPt>
          <c:cat>
            <c:strRef>
              <c:f>Sheet1!$A$2:$A$6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165</c:v>
                </c:pt>
                <c:pt idx="2">
                  <c:v>165</c:v>
                </c:pt>
                <c:pt idx="3">
                  <c:v>161</c:v>
                </c:pt>
                <c:pt idx="4">
                  <c:v>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4A73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0B2545"/>
                </a:solidFill>
                <a:latin typeface="Segoe UI"/>
              </a:rPr>
              <a:t>Taxa observada de inatividade por faixa de risco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Inatividade observada</c:v>
                </c:pt>
              </c:strCache>
            </c:strRef>
          </c:tx>
          <c:dPt>
            <c:idx val="0"/>
            <c:spPr>
              <a:solidFill>
                <a:srgbClr val="FF6B4A"/>
              </a:solidFill>
            </c:spPr>
          </c:dPt>
          <c:dPt>
            <c:idx val="1"/>
            <c:spPr>
              <a:solidFill>
                <a:srgbClr val="FFB703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cat>
            <c:strRef>
              <c:f>Sheet1!$A$2:$A$4</c:f>
              <c:strCache>
                <c:ptCount val="3"/>
                <c:pt idx="0">
                  <c:v>Alto (≥ 0,60)</c:v>
                </c:pt>
                <c:pt idx="1">
                  <c:v>Médio (0,30–0,60)</c:v>
                </c:pt>
                <c:pt idx="2">
                  <c:v>Baixo (&lt; 0,30)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95.2</c:v>
                </c:pt>
                <c:pt idx="1">
                  <c:v>48.7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3A4A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(30 s). Toda noite, milhões de brasileiros abrem o notebook depois do trabalho para estudar a distância. Todo ano, quatro em cada dez desistem. Ninguém desiste de repente — mas a instituição só percebe quando a mensalidade para. Nós somos a Retena.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gastar tempo aqui: uma frase. 'Em oito minutos: para quem, qual dor, qual solução, por que dentro do Oracle e quem paga. Com uma demonstração ao vivo.'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(1 min). 41,6% de desistência anual no EAD em 2024, recorde da série; o EAD virou maioria das matrículas. Cada aluno que evade leva R$ 3 a 5 mil de receita anual e um custo de captação que passa de R$ 1.000. E a instituição descobre semanas depois, no financeiro. BI mostra o passado, CRM cobra tarde; a Retena age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Público (40 s). Nosso cliente é a IES privada com EAD. Quem compra é a diretora de operações acadêmicas, que responde pela receita. Quem usa todo dia é a coordenadora de permanência e seus tutores, que hoje agem no escuro sobre 30% de alunos inativos. O beneficiário é o aluno trabalhador que estuda à noite.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(1 min). Analisamos 685 mil eventos de 203 alunos em cinco fases. Em um único dia, 61 alunos — 30% — estavam há mais de duas semanas sem acessar. 12% dos ingressantes se perderam em sete meses. Os travamentos se repetem nos mesmos capítulos. O LMS já sabia.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Atrito (40 s). O mapa mostra, por fase e capítulo, onde os alunos param. Fecha o ciclo aluno–conteúdo: além de chamar o aluno, a coordenação pedagógica sabe o que ajustar.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(1 min). A Retena transforma os logs em três coisas: score de risco por aluno, diagnóstico de atrito de conteúdo e fila semanal de intervenção com motivo, ação e horário. Toda segunda a coordenação sabe quem chamar; toda sexta, quem voltou.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(1 min). Abrir o dashboard publicado (deixar aberto antes de começar). Mostrar os KPIs; na fila de segunda, buscar 'Aluno 0227' e clicar para abrir fatores e ação sugerida; depois o mapa de atrito. Tudo com a base real anonimizada.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 internet falhar, usar estes dois prints. Reforçar: motivo em linguagem simples ao lado de cada score, e o resultado do contato é registrado em um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(1 min). Por que ninguém fez assim antes? BI mostra o passado, CRM cobra tarde e analytics exige cientistas de dados. A Retena roda onde o dado já está: features em SQL, treino e scoring com Oracle Machine Learning, sem o dado sair do banco. Em produção: Autonomous AI Database, APEX e Select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Oracle (40 s). Isto não é um desenho: carregamos os 685 mil eventos no Oracle AI Database 26ai Free, calculamos as features em SQL, treinamos três modelos dentro do banco com DBMS_DATA_MINING e expusemos o risco por SQL e JSON. Random Forest com AUC 0,949 no teste temporal. Se perguntarem por que não é o modelo entregue: são duas implementações independentes do mesmo problema — o pipeline Python é a referência metodológica (mais features, embargo de 21 dias); o modelo Oracle prova a arquitetura in-database com features em SQL e protocolo próprio. Ambos usam teste temporal a partir de junho; os números não são comparáveis um a um. Na v2, o caminho para o Autonomous na OCI está documentado e o MERGE semanal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(50 s). Treinamos nos primeiros meses e testamos nos seguintes, sem olhar o futuro. AUC 0,88; entre os 20% apontados como maior risco, 88% de fato ficaram inativos; na faixa Alto, 95 em cada 100. E dizemos as limitações: amostra de um curso, rótulo comportamental, AUC 0,74 no subconjunto acionável.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do método (40 s). Depois da entrega, incorporamos o pipeline de um integrante como benchmark: nenhuma configuração alternativa supera o baseline, e a vantagem em F2 dos modelos balanceados é efeito de limiar. Rodamos o método no OULAD, dataset público da Open University: AUC 0,92 e lift 3,5× em 14 mil alunos, mesmas features dominantes. Responde à pergunta '203 alunos é pouco'.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(40 s). Só a Retena junta quem, onde e resultado — risco por aluno, atrito por capítulo e reativação medida em R$ — sem tirar o dado da instituição, e cada intervenção retreina o modelo. Ficou viável agora: ML in-database maduro e EAD como maioria.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(40 s). Três frentes: dados reais, INEP e Semesp, e um instrumento de 12 perguntas. Se perguntarem sobre as entrevistas: foram simuladas com personas sintéticas para calibrar o roteiro e antecipar objeções; estão rotuladas assim no documento e serão confirmadas em campo antes do piloto. Responder exatamente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Monetização (50 s). SaaS por aluno ativo por mês, de três a seis reais conforme o porte, com piloto de 90 dias e meta de rematrícula. Uma IES de 12 mil alunos paga cerca de R$ 576 mil por ano; reter 1,1% da base já paga o contrato, e cada ponto de desistência evitado vale meio milhão por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 (40 s). 2.244 IES privadas e 5,2 milhões de alunos EAD. Alvo inicial: IES de médio porte fora dos megagrupos. O método é portátil para qualquer LMS Moodle-like — provado no OULAD — o que abre caminho para o ensino técnico e corporativo; megagrupos entram na fase 2 via ecossistema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passos (30 s). Vídeo e formulário enviados; hoje a banca; NEXT em 24/10 com Autonomous e APEX; piloto de 90 dias com meta de rematrícula. Pedimos apoio para o Autonomous Always Free, uma IES parceira e mentoria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Equipe (20 s). Cinco engenheiros de software do 4º ano; Lucas Dalmas lidera. Reforçar: tudo o que foi mostrado está publicado e reproduzível.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(30 s). A evasão não é um evento, é um processo silencioso que dura semanas. A Retena escuta esse silêncio e devolve tempo para quem pode agir. Ninguém desiste de repente. A Retena percebe antes. Obrigado. (QR codes: vídeo, site e repositório.)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apresentar; usar sob demanda nas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desempenho. Destacar: a logística é ligeiramente melhor por margem dentro do ruído; o HGB foi mantido por precisão a 0,5 e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arquitetura de dados 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'a amostra é pequena' e 'funciona em outra IES?'.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metodológicas e para o debate com abordagens de split aleatório.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LGPD, segurança e 'quando vai para a nuvem'.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de produto e experiência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riscos do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Apoio para perguntas sobre a Parte 2 (validação e stakeholders).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uno_noite.jpg"/>
          <p:cNvPicPr>
            <a:picLocks noChangeAspect="1"/>
          </p:cNvPicPr>
          <p:nvPr/>
        </p:nvPicPr>
        <p:blipFill>
          <a:blip r:embed="rId2"/>
          <a:srcRect l="27939" r="27939"/>
          <a:stretch>
            <a:fillRect/>
          </a:stretch>
        </p:blipFill>
        <p:spPr>
          <a:xfrm>
            <a:off x="6812280" y="0"/>
            <a:ext cx="53794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0B254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12280" y="0"/>
            <a:ext cx="54864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8095488" y="5754624"/>
            <a:ext cx="2634996" cy="1274064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203200" cap="rnd">
            <a:solidFill>
              <a:srgbClr val="2EC4B6">
                <a:alpha val="5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29138" y="5334762"/>
            <a:ext cx="492252" cy="492252"/>
          </a:xfrm>
          <a:prstGeom prst="ellipse">
            <a:avLst/>
          </a:prstGeom>
          <a:solidFill>
            <a:srgbClr val="2EC4B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907792" cy="822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874519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EC4B6"/>
                </a:solidFill>
                <a:latin typeface="Segoe UI"/>
              </a:rPr>
              <a:t>Startup One · Enterprise Challenge Oracle · FIAP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Ninguém desiste</a:t>
            </a:r>
          </a:p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de repente.</a:t>
            </a:r>
          </a:p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6E4"/>
                </a:solidFill>
                <a:latin typeface="Segoe UI"/>
              </a:rPr>
              <a:t>Radar de permanência para o ensino superior EAD: lê os sinais do LMS e entrega, toda segunda, quem está a duas semanas de sumir — por quê e o que fazer. Dentro do Oracle AI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Dalmas (RM551178) · Lucas Emanuel (RM97881) · Kayque Moraes (RM97592)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Henklain (RM99350) · Vinicius Pinheiro (RM99198)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Banca Final · 23 de setembro de 2026 · Engenharia de Software, 4º ano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OS PRÓXIMOS 8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Para quem, qual dor, qual solução e quem paga.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0:40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1168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71800" y="21945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68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01168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12080" y="21945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Evidência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468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01168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52360" y="21945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Solução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68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01168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692640" y="21945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Demonstração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1:00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68780" y="356616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851660" y="374904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5166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1660" y="4297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Oracle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8610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6180" y="40233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09060" y="356616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091940" y="374904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9194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1940" y="4297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Resultados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638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0:50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6460" y="40233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9340" y="356616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332220" y="374904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222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4297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Negócio e mercado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666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0:50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6740" y="40233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89620" y="356616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572500" y="374904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250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500" y="4297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Fechamento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0694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0:40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Sequência sugerida pela coordenação do Challenge: Público → Problema → Oportunidade → Solução → Demonstração → Diferencial → Monetização → Mercado → Fechamento. A demonstração é ao vivo, no dashboard publicado.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  <p:pic>
        <p:nvPicPr>
          <p:cNvPr id="59" name="Picture 58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 instituição descobre a evasão quando a mensalidade para.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A4A5C"/>
                </a:solidFill>
                <a:latin typeface="Segoe UI"/>
              </a:rPr>
              <a:t>DESISTÊNCIA ANUAL NO EAD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120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0" b="1" i="0">
                <a:solidFill>
                  <a:srgbClr val="FF6B4A"/>
                </a:solidFill>
                <a:latin typeface="Segoe UI"/>
              </a:rPr>
              <a:t>41,6%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recorde da série histórica na rede privada (41,9%); presencial: 24,8%. Fonte: Instituto Semesp, 16º Mapa do Ensino Superior no Brasil,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17556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0B2545"/>
                </a:solidFill>
                <a:latin typeface="Segoe UI"/>
              </a:rPr>
              <a:t>50,7%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006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das matrículas já são 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3949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A4A5C"/>
                </a:solidFill>
                <a:latin typeface="Segoe UI"/>
              </a:rPr>
              <a:t>INEP, Censo 2024: 5,19 milhões de alunos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4206240"/>
            <a:ext cx="17556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87752" y="4315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0B2545"/>
                </a:solidFill>
                <a:latin typeface="Segoe UI"/>
              </a:rPr>
              <a:t>R$ 3–5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48006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por aluno que evade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53949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A4A5C"/>
                </a:solidFill>
                <a:latin typeface="Segoe UI"/>
              </a:rPr>
              <a:t>receita anual perdida (estimativa, ticket R$ 250–450/mês)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4206240"/>
            <a:ext cx="17556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2271" y="4315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0B2545"/>
                </a:solidFill>
                <a:latin typeface="Segoe UI"/>
              </a:rPr>
              <a:t>Semanas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48006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de atraso na descoberta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53949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A4A5C"/>
                </a:solidFill>
                <a:latin typeface="Segoe UI"/>
              </a:rPr>
              <a:t>o LMS registra cada sinal antes</a:t>
            </a:r>
          </a:p>
        </p:txBody>
      </p:sp>
      <p:pic>
        <p:nvPicPr>
          <p:cNvPr id="19" name="Picture 18" descr="desistindo.jpg"/>
          <p:cNvPicPr>
            <a:picLocks noChangeAspect="1"/>
          </p:cNvPicPr>
          <p:nvPr/>
        </p:nvPicPr>
        <p:blipFill>
          <a:blip r:embed="rId2"/>
          <a:srcRect l="14694" r="14694"/>
          <a:stretch>
            <a:fillRect/>
          </a:stretch>
        </p:blipFill>
        <p:spPr>
          <a:xfrm>
            <a:off x="6263640" y="1783080"/>
            <a:ext cx="5394960" cy="429768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8183879" y="5074920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1040" y="5138928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BI mostra o passado. CRM cobra tarde. </a:t>
            </a:r>
            <a:r>
              <a:rPr sz="1050" b="1" i="0">
                <a:solidFill>
                  <a:srgbClr val="0B2545"/>
                </a:solidFill>
                <a:latin typeface="Segoe UI"/>
              </a:rPr>
              <a:t>A Retena age no meio: quando ainda dá tempo de chamar de volta.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  <p:pic>
        <p:nvPicPr>
          <p:cNvPr id="24" name="Picture 23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PARA QUEM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Quem compra, quem usa e o aluno no centro.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ordenadora.jpg"/>
          <p:cNvPicPr>
            <a:picLocks noChangeAspect="1"/>
          </p:cNvPicPr>
          <p:nvPr/>
        </p:nvPicPr>
        <p:blipFill>
          <a:blip r:embed="rId2"/>
          <a:srcRect t="8141" b="8141"/>
          <a:stretch>
            <a:fillRect/>
          </a:stretch>
        </p:blipFill>
        <p:spPr>
          <a:xfrm>
            <a:off x="658368" y="1892807"/>
            <a:ext cx="3300984" cy="155448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731520" y="35661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Renata · Diretora de Operações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Responde pela receita das mensalidades e pela meta de permanência em um centro universitário com ~12 mil alunos EAD.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3812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285232"/>
            <a:ext cx="289864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Quer ver a evasão em R$ e o retorno em rematrícula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84978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753770"/>
            <a:ext cx="289864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Objeções: LGPD, projeto de TI, "já tenho BI"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utor.jpg"/>
          <p:cNvPicPr>
            <a:picLocks noChangeAspect="1"/>
          </p:cNvPicPr>
          <p:nvPr/>
        </p:nvPicPr>
        <p:blipFill>
          <a:blip r:embed="rId3"/>
          <a:srcRect t="8141" b="8141"/>
          <a:stretch>
            <a:fillRect/>
          </a:stretch>
        </p:blipFill>
        <p:spPr>
          <a:xfrm>
            <a:off x="4407407" y="1892807"/>
            <a:ext cx="3300984" cy="1554480"/>
          </a:xfrm>
          <a:prstGeom prst="roundRect">
            <a:avLst>
              <a:gd name="adj" fmla="val 8000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4480559" y="35661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59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Usa toda segunda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31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Mariana · Coord. de Permanência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434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Lidera 12 tutores. Hoje descobre a evasão tarde e prioriza no escuro, sem critério nem registro do que funcionou.</a:t>
            </a:r>
          </a:p>
        </p:txBody>
      </p:sp>
      <p:sp>
        <p:nvSpPr>
          <p:cNvPr id="20" name="Oval 19"/>
          <p:cNvSpPr/>
          <p:nvPr/>
        </p:nvSpPr>
        <p:spPr>
          <a:xfrm>
            <a:off x="4480559" y="53812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5285232"/>
            <a:ext cx="289864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Quer a lista de quem chamar, por quê e como</a:t>
            </a:r>
          </a:p>
        </p:txBody>
      </p:sp>
      <p:sp>
        <p:nvSpPr>
          <p:cNvPr id="22" name="Oval 21"/>
          <p:cNvSpPr/>
          <p:nvPr/>
        </p:nvSpPr>
        <p:spPr>
          <a:xfrm>
            <a:off x="4480559" y="584978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5753770"/>
            <a:ext cx="289864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KPI: alunos em risco reengajados em 30 dias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luno_noite.jpg"/>
          <p:cNvPicPr>
            <a:picLocks noChangeAspect="1"/>
          </p:cNvPicPr>
          <p:nvPr/>
        </p:nvPicPr>
        <p:blipFill>
          <a:blip r:embed="rId4"/>
          <a:srcRect t="8141" b="8141"/>
          <a:stretch>
            <a:fillRect/>
          </a:stretch>
        </p:blipFill>
        <p:spPr>
          <a:xfrm>
            <a:off x="8156447" y="1892807"/>
            <a:ext cx="3300984" cy="1554480"/>
          </a:xfrm>
          <a:prstGeom prst="roundRect">
            <a:avLst>
              <a:gd name="adj" fmla="val 8000"/>
            </a:avLst>
          </a:prstGeom>
        </p:spPr>
      </p:pic>
      <p:sp>
        <p:nvSpPr>
          <p:cNvPr id="26" name="Rounded Rectangle 25"/>
          <p:cNvSpPr/>
          <p:nvPr/>
        </p:nvSpPr>
        <p:spPr>
          <a:xfrm>
            <a:off x="8229599" y="35661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599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Beneficiário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931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Aluno EAD trabalhador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434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Estuda das 19h às 22h, de segunda a quinta. Trava em um capítulo, perde o ritmo por duas semanas e, sem ninguém perceber, desiste.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9" y="53812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1" y="5285232"/>
            <a:ext cx="289864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Responde a um plano concreto, não a cobrança</a:t>
            </a:r>
          </a:p>
        </p:txBody>
      </p:sp>
      <p:sp>
        <p:nvSpPr>
          <p:cNvPr id="32" name="Oval 31"/>
          <p:cNvSpPr/>
          <p:nvPr/>
        </p:nvSpPr>
        <p:spPr>
          <a:xfrm>
            <a:off x="8229599" y="584978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1" y="5753770"/>
            <a:ext cx="2898648" cy="261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Contato à noite, por WhatsApp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pic>
        <p:nvPicPr>
          <p:cNvPr id="36" name="Picture 35" descr="retena_horizontal_escuro_sobre_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EVIDÊNCIA NA BASE REAL (ANONIMIZADA)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O LMS já sabia. Só faltava alguém ouvir.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92807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eventos de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203 alunos · 5 fases · jan–ago/2026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61 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008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30% da turma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há mais de 14 dias sem acesso, em um único dia — sem alerta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142231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873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dos ingressantes perdidos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em 7 meses: funil 94% → 94% → 92% → 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2395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19h–22h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846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pico de estudo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4864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de segunda a quinta: o aluno trabalhador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852160" y="1783080"/>
          <a:ext cx="58521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9D6E4"/>
                </a:solidFill>
                <a:latin typeface="Segoe UI"/>
              </a:rPr>
              <a:t>Fase 5 em andamento (ago/2026). 9 alunos aparecem só na F1; 8 param após a F4.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05</a:t>
            </a:r>
          </a:p>
        </p:txBody>
      </p:sp>
      <p:pic>
        <p:nvPicPr>
          <p:cNvPr id="26" name="Picture 25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ONDE OS ALUNOS TRAVAM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Atrito de conteúdo: conhecido de ouvido, nunca medido.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atrit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675451"/>
            <a:ext cx="6675120" cy="255865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0" y="195224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1" y="1856231"/>
            <a:ext cx="3538728" cy="91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Mapa fase × capítulo: taxa de queda (alunos que chegaram ao capítulo e não avançaram) ponderada pelo esforço relativo.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299612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2900111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Cauda de travamento nos capítulos 1–3 de todas as fases; na F5 (em andamento), 25 alunos parados nos caps 1–2.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383389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3737884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Piores capítulos encerrados: Cap 2 da F4 ("Estudo de Caso", esforço 3,4× o típico), Cap 2 da F3 e Cap 11 da F2.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467166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4575657"/>
            <a:ext cx="3538728" cy="70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Conteúdo quase só em HTML (323 mil eventos) contra 18,6 mil em PDF e quase nada em vídeo e áudio.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550944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5413430"/>
            <a:ext cx="3538728" cy="91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Cada célula vira uma recomendação para a coordenação pedagógica: dividir o capítulo, inserir quiz de checagem, oferecer vídeo curto.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  <p:pic>
        <p:nvPicPr>
          <p:cNvPr id="18" name="Picture 1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Três entregas, toda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Score de risco explicável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Probabilidade de o aluno ficar 21 dias sem acessar, recalculada todo domingo, com os motivos em linguagem simples: "12 dias sem acesso, queda de 70% nos eventos, parado no cap 2 da F5".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26279" y="1993392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993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5786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Mapa de atrito de conteúdo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9718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Capítulos e formatos onde os alunos travam, com recomendação concreta para a coordenação pedagógica.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75319" y="1993392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993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786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Fila semanal de intervenção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718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Quem contatar, por quê, quando (19h–22h) e o que dizer — com template de mensagem, "kit de retomada" e resultado registrado em um clique, medido em R$.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RITUAL DA SEMANA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Domingo 23h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logs viram features e scores dentro do banco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30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6352" y="475488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53512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Segunda 8h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5166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coordenadora abre a fila priorizada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230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475488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21224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Terça a quinta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5166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tutores contatam no horário em que o aluno estuda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3" y="5230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51775" y="475488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88936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Sexta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6" y="5166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resultado registrado: reativado, sem resposta, plano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4896" y="5230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19488" y="475488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756648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Mensal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5166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receita preservada em R$ e retreino do modelo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07</a:t>
            </a:r>
          </a:p>
        </p:txBody>
      </p:sp>
      <p:pic>
        <p:nvPicPr>
          <p:cNvPr id="43" name="Picture 42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DEMONSTRAÇÃO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Dashboard do MVP com a base real: 196 alunos pontuados.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589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hero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9" y="1874519"/>
            <a:ext cx="7396480" cy="4160520"/>
          </a:xfrm>
          <a:prstGeom prst="roundRect">
            <a:avLst>
              <a:gd name="adj" fmla="val 6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41080" y="1856231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6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ativos, alto risco, &gt;14 dias sem acesso, receita em risco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6974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41080" y="27706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632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196 alunos, ordenável, busca e filtros; clique abre fatores e ação sugerida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6118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41080" y="36850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9776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heatmap fase × capítulo e 20 recomendações priorizadas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52628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41080" y="45994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89204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métricas, calibração, importância e estabilidade por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48640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58200" y="548640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lucashenklain.github.io/retena/dashboard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DEMONSTRAÇÃO · O QUE A COORDENADORA VÊ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Fila de segunda com motivo e ação; mapa de atrito.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f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8825"/>
            <a:ext cx="5303520" cy="2983229"/>
          </a:xfrm>
          <a:prstGeom prst="roundRect">
            <a:avLst>
              <a:gd name="adj" fmla="val 6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731520" y="52578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961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Cada linha: fase, situação, recência, tendência, probabilidade, faixa, fatores em linguagem simples e ação sugerida. Clique no aluno abre o painel de detalhe.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ashboard_at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8825"/>
            <a:ext cx="5303520" cy="2983229"/>
          </a:xfrm>
          <a:prstGeom prst="roundRect">
            <a:avLst>
              <a:gd name="adj" fmla="val 6000"/>
            </a:avLst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525780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5257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5961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Fase × capítulo com taxa de queda e esforço; as 8 maiores fricções e as 20 recomendações priorizadas para a coordenação pedagógica.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POR QUE DENTRO DO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 modelo roda onde o dado já mora.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8638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6_arquitetura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9" y="1847088"/>
            <a:ext cx="6997441" cy="42062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0" y="190652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42832" y="1810512"/>
            <a:ext cx="2715768" cy="1077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Oracle Autonomous AI Database 26ai: eventos, features em SQL, treino e scoring in-database com Oracle Machine Learning (DBMS_DATA_MINING).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312999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3033979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PREDICTION_PROBABILITY e PREDICTION_DETAILS geram score e motivo; views JSON alimentam APEX, Select AI e API.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415631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4060301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APEX para o painel; Select AI para perguntas em português; Object Storage e DBMS_SCHEDULER para ingestão e retreino.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518263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5086624"/>
            <a:ext cx="2715768" cy="880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O dado do aluno não sai da instituição: LGPD por arquitetura, sem servidor de ML nem cientista de dados dedicado.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INTEGRAÇÃO EXECUTADA, NÃO DESENHADA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Oracle AI Database 26ai + OML: já funciona.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videnci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2" y="1856231"/>
            <a:ext cx="4180114" cy="420624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7830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0" y="1911095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56231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eventos carregados via python-oracledb em 72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8803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0" y="300837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3 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953512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Random Forest e GLM treinados com DBMS_DATA_MINING, dentro do banco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977639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0" y="4105655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AUC 0,949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050791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Random Forest in-database, teste temporal ≥ jun/2026, features em SQL — protocolo próprio, complementar ao 0,88 do pipeline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07492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0" y="520293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EC4B6"/>
                </a:solidFill>
                <a:latin typeface="Segoe UI"/>
              </a:rPr>
              <a:t>SQL +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148072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FFFFFF"/>
                </a:solidFill>
                <a:latin typeface="Segoe UI"/>
              </a:rPr>
              <a:t>PREDICTION_PROBABILITY/DETAILS, views JSON, Duality View, MERGE idempotente e job semanal (DBMS_SCHEDULER)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14476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9D6E4"/>
                </a:solidFill>
                <a:latin typeface="Segoe UI"/>
              </a:rPr>
              <a:t>Evidências em 06_Oracle/evidencias · runbook em 06_Oracle/oci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11</a:t>
            </a:r>
          </a:p>
        </p:txBody>
      </p:sp>
      <p:pic>
        <p:nvPicPr>
          <p:cNvPr id="23" name="Picture 22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RESULTADOS DO MODELO · TESTE TEMPORAL (JUN–AGO/2026)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Treinado no passado, testado no futuro. Sem retoque.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Segoe UI"/>
              </a:rPr>
              <a:t>0,88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50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977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inatividade em 21 dias (gradient boosting); baseline logística 0,89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7872" y="184708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Segoe U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450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precisão no top-20%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77977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dos alunos priorizados, 88 em 100 ficaram inativos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184708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Segoe UI"/>
              </a:rPr>
              <a:t>3,06×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450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lift no top-20%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77977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priorizar pela Retena acerta 3× mais do que ao acaso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0576" y="184708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2545"/>
                </a:solidFill>
                <a:latin typeface="Segoe UI"/>
              </a:rPr>
              <a:t>0,93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450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AUC · transição de fase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77977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quem não inicia a fase seguinte (leave-one-phase-out)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3703320"/>
          <a:ext cx="585216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75120" y="3703320"/>
            <a:ext cx="49834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O que dizemos com honestidade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42382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42232"/>
            <a:ext cx="4361688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Amostra de um curso (~200 alunos): retreino com os dados de cada IES antes de produção.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72470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4628692"/>
            <a:ext cx="4361688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Rótulo comportamental (21 dias sem acesso), não cancelamento de matrícula.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5211165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5115153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Entre alunos ainda ativos nos 28 dias anteriores, a AUC cai para 0,74: antecipar é mais difícil do que confirmar.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5876848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5780836"/>
            <a:ext cx="4361688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Só logs de navegação: limita o teto, mas é portátil para qualquer LMS.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pic>
        <p:nvPicPr>
          <p:cNvPr id="33" name="Picture 32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VALIDAÇÃO DO MÉTODO · BENCHMARK E PORTABILIDADE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 que o time acrescentou depois da entrega: mais modelos, outro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852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Benchmark no mesmo split temporal (teste jun–ago/2026)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5486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Segoe UI"/>
                        </a:rPr>
                        <a:t>HGB · HistGradientBoosting (entregue)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4A5C"/>
                          </a:solidFill>
                          <a:latin typeface="Segoe UI"/>
                        </a:rPr>
                        <a:t>0,626</a:t>
                      </a:r>
                    </a:p>
                  </a:txBody>
                  <a:tcPr anchor="ctr" marL="73152" marR="73152" marT="27432" marB="27432">
                    <a:solidFill>
                      <a:srgbClr val="E6F7F5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baseline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0,696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+ balanced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0,766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Logística EduRetain (L1)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XGBoost (config EduRetain)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0,874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GradientBoosting padrão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0,811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0,543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731520" y="510692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010912"/>
            <a:ext cx="5230368" cy="602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Nenhuma configuração alternativa supera o baseline já existente; a vantagem em F2 dos modelos balanceados é efeito de limiar, não de ordenação.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754867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658855"/>
            <a:ext cx="5230368" cy="43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HGB permanece o modelo entregue (melhor precisão a 0,5 e rastreabilidade); o limiar 0,30 da faixa Médio recupera o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78308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0" y="19019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Portabilidade: mesmo método no OULAD (Open University, UK)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313432"/>
            <a:ext cx="4361688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32.593 matrículas e 10,66 milhões de cliques; base aluno-semana de 730.673 linhas e 24.392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93248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2836468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Mesmo rótulo, mesmas features conceituais e mesmos hiperparâmetros; split temporal: treino 2013 (11.438 alunos), teste 2014 (14.293 alunos).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363473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3538727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AUC-ROC 0,922 e lift 3,51× no top-20% (IES parceira: 0,882 e 3,06×); faixa Alto com 85% de inatividade observada contra 6% na 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336999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4240987"/>
            <a:ext cx="4361688" cy="6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As mesmas features dominam: dias ativos em 28 dias, recência e regularidade semanal. Módulo nunca visto no treino: AUC 0,93 / 0,91.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138928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95160" y="519379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O mesmo método, sem mudar arquitetura, concentrou 70% dos alunos que ficariam 3 semanas inativos nos 20% de maior risco — em outra instituição, outro país e outro LMS.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pic>
        <p:nvPicPr>
          <p:cNvPr id="25" name="Picture 24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BI olha o passado, CRM cobra tarde. A Retena fecha o ciclo.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1508760"/>
                <a:gridCol w="1508760"/>
                <a:gridCol w="1508760"/>
                <a:gridCol w="1508760"/>
              </a:tblGrid>
              <a:tr h="4857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Retena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BI do LMS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CRM de cobrança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Consultoria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Antecipa o risco semanas antes (recência, tendência, capítulo)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Diz quem contatar, por quê, quando e o que dizer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Mapa de atrito de conteúdo por capítulo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Registra o resultado e mede receita preservada em R$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Roda dentro do banco da IES (LGPD, sem ETL externo)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Retreina com o resultado das intervenções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A5C"/>
                          </a:solidFill>
                          <a:latin typeface="Segoe UI"/>
                        </a:rPr>
                        <a:t>Implantação em semanas, sem cientista de 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● atende plenamente   ◐ atende em parte   ○ não atende. Por que não foi resolvido assim antes: dado preso em relatórios descritivos; ML exigia pipeline externo e cientista de dados; ninguém fechava o ciclo com ROI — e o EAD só virou maioria em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VALIDAÇÃO ESTRUTURADA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Dados reais, fontes de mercado e entrevistas com roteiro.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Hipóteses H1–H6 · status após a Fase 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8658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H1 · A IES descobre a evasão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6/6 percebem em ≥ 2 semanas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08376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53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H2 · Sinais do LMS antecipam a evasão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535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AUC 0,88 no teste temporal; 0,92 no OULAD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30168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H3 · Tutores não conseguem 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7530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5/6 priorizam de forma intuitiva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51959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9709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H4 · Conteúdo tem atrito identificável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970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4/6 citam capítulos específicos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73751"/>
            <a:ext cx="182880" cy="1828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H5 · Disposição a pagar por aluno/mês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188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coordenação R$ 1–3; sponsor R$ 3–4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49554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H6 · Integração por export é aceitável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4406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6/6 têm export de logs acessível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O que as entrevistas mudaram na proposta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2313432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Venda ao sponsor de operações (receita em risco em R$); uso diário pela coordenação.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2950403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854391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Plano Essencial para IES pequenas: a dor existe, o orçamento é mínimo.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49136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395350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Template de mensagem, janela 19h–22h e "kit de retomada" em cada linha da fila.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403232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3936309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Registro de resultado em um clique; WhatsApp no primeiro trimestre pós-piloto.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573280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477268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Piloto com meta de rematrícula contratual; argumento LGPD explícito.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230368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5276088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A4A5C"/>
                </a:solidFill>
                <a:latin typeface="Segoe UI"/>
              </a:rPr>
              <a:t>Nota: as 8 entrevistas foram simuladas com personas sintéticas (perfis-alvo e base real) para calibrar o instrumento; 6 institucionais entram na contagem x/6 e 2 com alunos calibraram H4 e H5. Serão confirmadas em campo antes do piloto.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pic>
        <p:nvPicPr>
          <p:cNvPr id="40" name="Picture 3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MONETIZAÇÃO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SaaS por aluno ativo/mês, com piloto de 90 dias.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16459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Faixa de volume (plano Pro)</a:t>
                      </a:r>
                    </a:p>
                  </a:txBody>
                  <a:tcPr anchor="ctr" marL="73152" marR="73152" marT="27432" marB="27432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Preço / aluno ativo / mês</a:t>
                      </a:r>
                    </a:p>
                  </a:txBody>
                  <a:tcPr anchor="ctr" marL="73152" marR="73152" marT="27432" marB="27432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Plano</a:t>
                      </a:r>
                    </a:p>
                  </a:txBody>
                  <a:tcPr anchor="ctr" marL="73152" marR="73152" marT="27432" marB="27432">
                    <a:solidFill>
                      <a:srgbClr val="2EC4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1 mil a 10 mil alunos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R$ 6,00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10 mil a 50 mil alunos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R$ 4,00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Acima de 50 mil (megagrupos)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R$ 3,00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Enterprise · fase 2</a:t>
                      </a:r>
                    </a:p>
                  </a:txBody>
                  <a:tcPr anchor="ctr" marL="73152" marR="73152" marT="27432" marB="27432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Até 5 mil alunos, funcionalidades reduzidas (ajuste pós-validação)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R$ 2,00 · mín. R$ 2,5 mil/mês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Segoe UI"/>
                        </a:rPr>
                        <a:t>Essencial</a:t>
                      </a:r>
                    </a:p>
                  </a:txBody>
                  <a:tcPr anchor="ctr" marL="73152" marR="73152" marT="27432" marB="27432">
                    <a:solidFill>
                      <a:srgbClr val="1B3F6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2628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Mínimo mensal R$ 5 mil no Pro (R$ 2,5 mil no Essencial) · setup e integração ao LMS R$ 10–25 mil · piloto de 90 dias em uma fase de um curso por R$ 5 mil, com meta de rematrícula acordada e conversão automática em contrato anual · margem bruta alvo 80%.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CONTA DO CLIENTE-REFERÊNCIA · 12 MIL ALUNOS 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9456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0" y="23042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R$ 576 mil / 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6148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12.000 alunos × R$ 4,00 × 12 meses (+ setup único de R$ 20 mil)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520439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36301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137 alunos retidos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08736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≈ 1,1% da base, a R$ 4.200/ano de receita preservada por aluno, já paga o contrato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84632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49560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R$ 500 mil por ponto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1324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cada 1 p.p. de desistência evitado (~120 alunos) vale ~R$ 500 mil/ano (ticket estimado de R$ 350/mês)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6035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Quem paga: a diretoria de operações acadêmicas, porque compramos rematrícula. Quem usa: a coordenação de permanência. Venda com painel de receita em risco em R$; uso diário com a fila de segunda.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16</a:t>
            </a:r>
          </a:p>
        </p:txBody>
      </p:sp>
      <p:pic>
        <p:nvPicPr>
          <p:cNvPr id="21" name="Picture 20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MERCADO E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5,2 milhões de alunos EAD · 2.244 IES privadas.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R$ 249 mi/ano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5,19 mi matrículas EAD (INEP 2024) × R$ 4 × 12 meses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7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R$ 126 mi/ano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IES privadas fora dos megagrupos: ~2,6 mi alunos (Semesp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SOM · 3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R$ 2,5–4,3 mi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2545"/>
                </a:solidFill>
                <a:latin typeface="Segoe UI"/>
              </a:rPr>
              <a:t>8–12 IES médias (~52 mil alunos) + 1 megagrupo piloto via canal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GO-TO-MARKET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3 pilotos de 90 dias + 2 contratos (~R$ 0,5 mi ARR); Autonomous Always Free → pago; entrada por CSV padrão do LMS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80559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6 IES médias (~R$ 1,4 mi ARR); módulo de conteúdo adaptativo; integração WhatsApp; APEX + Select AI em produção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663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9" y="4773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Ano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5093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10–12 IES + 1 megagrupo via ecossistema Oracle (R$ 2,5–4,3 mi ARR); ensino técnico e corporativo com o mesmo método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pic>
        <p:nvPicPr>
          <p:cNvPr id="28" name="Picture 2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Do MVP ao piloto com meta de rematrícula.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24912"/>
            <a:ext cx="10515600" cy="4572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463040" y="2587752"/>
            <a:ext cx="329184" cy="329184"/>
          </a:xfrm>
          <a:prstGeom prst="ellipse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13/09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Vídeo pitch e formulário enviados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587752"/>
            <a:ext cx="329184" cy="329184"/>
          </a:xfrm>
          <a:prstGeom prst="ellipse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965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23/09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632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Banca Final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587752"/>
            <a:ext cx="329184" cy="32918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965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24/10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632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NEXT: demonstração com Autonomous AI Database + APEX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587752"/>
            <a:ext cx="329184" cy="32918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965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Nov–Fev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632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Piloto de 90 dias em uma fase de um curso, meta de rematrícula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2587752"/>
            <a:ext cx="329184" cy="329184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965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0632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Conteúdo adaptativo, WhatsApp, megagrupos via canal 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QUE PEDIMOS À BANCA E AO ECOSSISTEMA ORACLE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Autonomous AI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apoio para provisionar o Always Free e publicar a primeira aplicação APEX antes do NEXT — o runbook de 60 minutos já está pronto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80559" y="4800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Uma IES parceira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1663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para o piloto de 90 dias em uma fase de um curso, com dados anonimizados e meta acordada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599" y="4800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Mentoria comercial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51663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para a venda ao sponsor de operações e o acesso a grupos que já rodam Oracle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18</a:t>
            </a:r>
          </a:p>
        </p:txBody>
      </p:sp>
      <p:pic>
        <p:nvPicPr>
          <p:cNvPr id="34" name="Picture 33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Cinco engenheiros, um problema que conhecemos de perto.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000" y="2148840"/>
            <a:ext cx="914400" cy="914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B2545"/>
                </a:solidFill>
                <a:latin typeface="Segoe UI"/>
              </a:rPr>
              <a:t>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Dalmas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RM551178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1605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Líder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401568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Emanuel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RM97881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60136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Kayque Moraes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RM97592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918704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Lucas Henklain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RM99350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1874519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177272" y="2148840"/>
            <a:ext cx="914400" cy="9144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2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Vinicius Pinheiro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RM99198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Engenharia de Software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Como trabalhamos: </a:t>
            </a:r>
            <a:r>
              <a:rPr sz="1050" b="0" i="0">
                <a:solidFill>
                  <a:srgbClr val="3A4A5C"/>
                </a:solidFill>
                <a:latin typeface="Segoe UI"/>
              </a:rPr>
              <a:t>base real de 684.723 eventos analisada com validação temporal; modelo treinado dentro do Oracle e evidenciado com logs; dashboard, landing page e vídeo produzidos pelo time; benchmark e portabilidade em um segundo dataset público após a entrega. Tudo reproduzível e publicado em github.com/LucasHenklain/retena.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  <p:pic>
        <p:nvPicPr>
          <p:cNvPr id="39" name="Picture 38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matur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7869936" y="2365248"/>
            <a:ext cx="3189732" cy="1542288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203200" cap="rnd">
            <a:solidFill>
              <a:srgbClr val="2EC4B6">
                <a:alpha val="50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986" y="1856994"/>
            <a:ext cx="595884" cy="595884"/>
          </a:xfrm>
          <a:prstGeom prst="ellipse">
            <a:avLst/>
          </a:prstGeom>
          <a:solidFill>
            <a:srgbClr val="2EC4B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746248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9D6E4"/>
                </a:solidFill>
                <a:latin typeface="Segoe UI"/>
              </a:rPr>
              <a:t>A evasão não é um evento. É um silêncio que dura semanas. A Retena escuta esse silêncio, dentro do banco que a instituição já usa, e devolve tempo para quem pode agir.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8348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4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Vídeo pitch (4:48)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youtu.be/HZrcLvIJCC4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983480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6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Site 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8920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 w="12700">
            <a:solidFill>
              <a:srgbClr val="2A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983480"/>
            <a:ext cx="1051560" cy="1051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55480" y="5029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Repositório e evidências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537667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github.com/LucasHenklain/retena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Lucas Dalmas · Lucas Emanuel · Kayque Moraes · Lucas Henklain · Vinicius Pinheiro — Engenharia de Software, FIAP 4ESOA · Startup One / Enterprise Challenge Oracle 2026 · Obrigado.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315C"/>
            </a:gs>
            <a:gs pos="100000">
              <a:srgbClr val="0B254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01712" y="5096256"/>
            <a:ext cx="4299204" cy="2078736"/>
          </a:xfrm>
          <a:custGeom>
            <a:avLst/>
            <a:gdLst/>
            <a:ahLst/>
            <a:cxnLst/>
            <a:rect l="l" t="t" r="r" b="b"/>
            <a:pathLst>
              <a:path w="91" h="44">
                <a:moveTo>
                  <a:pt x="0" y="28"/>
                </a:moveTo>
                <a:lnTo>
                  <a:pt x="24" y="28"/>
                </a:lnTo>
                <a:lnTo>
                  <a:pt x="35" y="44"/>
                </a:lnTo>
                <a:lnTo>
                  <a:pt x="47" y="6"/>
                </a:lnTo>
                <a:lnTo>
                  <a:pt x="57" y="28"/>
                </a:lnTo>
                <a:lnTo>
                  <a:pt x="70" y="28"/>
                </a:lnTo>
                <a:lnTo>
                  <a:pt x="91" y="0"/>
                </a:lnTo>
              </a:path>
            </a:pathLst>
          </a:custGeom>
          <a:noFill/>
          <a:ln w="177800" cap="rnd">
            <a:solidFill>
              <a:srgbClr val="2EC4B6">
                <a:alpha val="12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5562" y="4411218"/>
            <a:ext cx="803148" cy="803148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APÊNDICE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Material de apoio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C9D6E4"/>
                </a:solidFill>
                <a:latin typeface="Segoe UI"/>
              </a:rPr>
              <a:t>para as perguntas da banca.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4"/>
                </a:solidFill>
                <a:latin typeface="Segoe UI"/>
              </a:rPr>
              <a:t>A1 Métricas completas · A2 Fluxo de dados e ML · A3 OULAD em detalhe · A4 Por que split temporal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4"/>
                </a:solidFill>
                <a:latin typeface="Segoe UI"/>
              </a:rPr>
              <a:t>A5 LGPD e caminho OCI · A6 Jornada da usuária · A7 Riscos e mitigação · A8 Rich picture e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FB3C8"/>
                </a:solidFill>
                <a:latin typeface="Segoe UI"/>
              </a:rPr>
              <a:t>21</a:t>
            </a:r>
          </a:p>
        </p:txBody>
      </p:sp>
      <p:pic>
        <p:nvPicPr>
          <p:cNvPr id="9" name="Picture 8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A1 · MÉTRICAS COMPLETAS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HGB × regressão logística, conjunto completo e subconjunto acionável (teste jun–ago/2026).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583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554480"/>
                <a:gridCol w="118872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Métrica (teste, n = 1.609, positivos 28,8%)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HGB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Logística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Brier (menor é melhor)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0,120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0,101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0,5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0,924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0,895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Recall @ 0,5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0,580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F1 @ 0,5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0,713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 (k = 322)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0,919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Recall capturado no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0,612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0,638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Lift no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3,06×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3,19×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783080"/>
          <a:ext cx="4251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Subconjunto acionável (n = 1.298; 14,7%)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HGB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Logística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0,460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0,494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0,396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Lift no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2,56×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2,69×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4023360"/>
          <a:ext cx="42519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914400"/>
                <a:gridCol w="1645920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Faixa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Inatividade observada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Alto (≥ 0,60)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95,2%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Médio (0,30–0,60)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48,7%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Baixo (&lt; 0,30)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1.297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14,3%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Protocolo: treino cortes &lt; 01/06/2026 com embargo de 21 dias (2.126 linhas, 16 cortes, 167 alunos, 10,1% positivos); teste cortes ≥ 01/06 (1.609 linhas, 9 cortes, 183 alunos, 28,8%). Matriz de confusão do HGB @ 0,5: VN 1.123 · FP 22 · FN 195 · VP 269. Hiperparâmetros do HGB por validação temporal interna (learning rate 0,05; 300 iterações; 8 folhas; mín. 40 por folha; L2 = 2). Estabilidade por corte: AUC-ROC de 0,80 a 0,97. Modelo secundário (transição de fases): AUC média 0,926 em leave-one-phase-out. Fonte: 05_MVP/outputs/RESULTADOS.md.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22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A2 · FLUXO DE DADOS 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Do log bruto à fila semanal.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2237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7_fluxo_dados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0665"/>
            <a:ext cx="7040880" cy="38790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783080"/>
            <a:ext cx="36576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Importância por permutação (top 12)</a:t>
            </a:r>
          </a:p>
        </p:txBody>
      </p:sp>
      <p:pic>
        <p:nvPicPr>
          <p:cNvPr id="8" name="Picture 7" descr="fig_impor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963043"/>
            <a:ext cx="3474720" cy="1480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5212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Dias ativos acumulados, dias ativos em 28 dias, eventos acumulados e recência lideram; volume de cliques vale menos que constância — o mesmo padrão observado no OULAD.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23</a:t>
            </a:r>
          </a:p>
        </p:txBody>
      </p:sp>
      <p:pic>
        <p:nvPicPr>
          <p:cNvPr id="12" name="Picture 11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A3 · PORTABILIDADE NO OULAD EM DETALHE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Mesmo método, 24.392 alunos, split temporal 2013 → 2014.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7607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oulad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02" y="1847088"/>
            <a:ext cx="5348994" cy="4206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783080"/>
          <a:ext cx="51206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097280"/>
                <a:gridCol w="1005840"/>
              </a:tblGrid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Métrica (inativo_21d)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IES parceira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OULAD completo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OULAD acionável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Alunos no teste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14.293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Taxa de positivos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28,8%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20,6%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10,6%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AUC-ROC (HGB)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0,922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AUC-PR (HGB)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0,813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0,418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0,724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0,342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Lift @ top-20%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3,06×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3,51×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3,23×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Faixa Alto: inatividade observada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95,2%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85,0%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Faixa Baixo: inatividade observada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14,3%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6,4%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5166360"/>
            <a:ext cx="51206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Estabilidade: AUC-ROC entre 0,858 e 0,954 nos 14 módulos-apresentações de teste; módulo CCC (só existe em 2014, nunca visto no treino): 0,931 e 0,906. Calibração quase diagonal com 400 mil linhas. Tempo total de execução: ~110 s. Fonte: 05_MVP/portabilidade_oulad/RESULTADOS_OULAD.md.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24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A4 · POR QUE AVALIAMOS COM SPLIT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Protocolo alternativo (alvo Withdrawn, dia 30) reproduzido no OULAD.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1097280"/>
                <a:gridCol w="1097280"/>
                <a:gridCol w="1417320"/>
                <a:gridCol w="91440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Precisão @ top-20%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Lift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(a) Split aleatório 80/20 estratificado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2,50×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(a) Split aleatório 80/20 estratificado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0,834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0,748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0,807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2,59×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(b) Split temporal 2013 → 2014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2,29×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(b) Split temporal 2013 → 2014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0,821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0,754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0,828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2,45×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(c) Temporal, sem quem já se desmatriculou até o dia 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Logística L1 balanceada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1,70×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(c) Temporal, sem quem já se desmatriculou até o dia 30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HGB Retena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0,692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0,336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0,376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1,92×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48640" y="506120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965192"/>
            <a:ext cx="1080820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 inflação do split aleatório é real, mas modesta (+0,024 de AUC-ROC para a logística). O ponto decisivo é outro: 15,7% das matrículas já tinham desmatrícula registrada até o dia 30 e são acertadas trivialmente; sem elas, o desempenho cai para AUC-ROC 0,66–0,69.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5790346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694334"/>
            <a:ext cx="1080820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É o análogo do subconjunto acionável do Retena — onde o método semanal com recência e regularidade obteve AUC-ROC 0,853 no mesmo dataset e mesmo split. O grão semanal carrega muito mais sinal acionável do que uma fotografia única do dia 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25</a:t>
            </a:r>
          </a:p>
        </p:txBody>
      </p:sp>
      <p:pic>
        <p:nvPicPr>
          <p:cNvPr id="11" name="Picture 10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A5 · LGPD, SEGURANÇA E CAMINHO OCI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 dado do aluno não sai da instituição. O caminho para o Autonomous está pronto.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Privacidade e segurança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0944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Processamento dentro do banco que a IES já controla; nenhum dado em ETL externo, servidor de ML ou nuvem de terceiros.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6874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60862"/>
            <a:ext cx="4773168" cy="467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Pseudonimização fora do painel ("Aluno NNNN"); dados nominais só para tutores autorizados.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16121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20109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Base legal: execução do contrato educacional e legítimo interesse de apoio acadêmico; opt-in de contato registrado.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6355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67540"/>
            <a:ext cx="4773168" cy="65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Perfis de acesso por papel (coordenação, tutor, gestão); TDE e auditoria nativos do Autonomous; minimização: só logs de navegação.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10982"/>
            <a:ext cx="109728" cy="1097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114970"/>
            <a:ext cx="4773168" cy="279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Tom de voz de apoio, nunca de cobrança ou vigilância.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Caminho OCI (06_Oracle/oci) — status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46520" y="2286000"/>
          <a:ext cx="5029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Conexão dual (Free local / Autonomous com wallet)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local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Exportação de EVENTOS_LMS para CSV gzip (684.723 linhas)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(dry-run)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MERGE idempotente do snapshot de risco (2× sem duplicar)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Executado local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Object Storage + DBMS_CLOUD.COPY_DATA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 (sem conta OCI)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Autonomous Always Free + usuário RETENA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2545"/>
                          </a:solidFill>
                          <a:latin typeface="Segoe UI"/>
                        </a:rPr>
                        <a:t>APEX, Select AI, DBMS_SCHEDULER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4A5C"/>
                          </a:solidFill>
                          <a:latin typeface="Segoe UI"/>
                        </a:rPr>
                        <a:t>Runbook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46520" y="5440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Runbook estimado em 60 minutos com uma conta OCI; números esperados já documentados para conferência.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26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A6 · JORNADA DA USUÁRIA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 semana da coordenadora de permanência com a Retena.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3_jornada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613" y="1847088"/>
            <a:ext cx="771001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27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A7 · RISCOS E MITIGAÇÃO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 que pode dar errado e o que já está desenhado.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6118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Risco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Mitigação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Situação na Fase 6</a:t>
                      </a:r>
                    </a:p>
                  </a:txBody>
                  <a:tcPr anchor="ctr" marL="73152" marR="73152" marT="27432" marB="27432"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Poucos dados por IES; rótulo é proxy comportamental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Validação temporal, retreino mensal, faixas lidas como prioridade relativa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Métricas honestas reportadas; portabilidade provada no OULAD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Coordenação tem dor, mas não orçamento; ciclo de venda longo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Venda ao diretor de operações com painel de receita em risco; piloto de 90 dias com meta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Dupla persona e plano Essencial incorporados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Integração vira projeto de TI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Entrada por CSV padrão do LMS; APEX pronto em dias; primeira fila em 30 dias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Carga por export padrão validada; runbook OCI pronto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LGPD e percepção de vigilância do aluno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Processamento in-database, pseudonimização, tom de apoio, opt-in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Arquitetura in-database executada e evidenciada</a:t>
                      </a:r>
                    </a:p>
                  </a:txBody>
                  <a:tcPr anchor="ctr" marL="73152" marR="73152" marT="27432" marB="27432">
                    <a:solidFill>
                      <a:srgbClr val="F6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2545"/>
                          </a:solidFill>
                          <a:latin typeface="Segoe UI"/>
                        </a:rPr>
                        <a:t>Concorrência de BI embarcado; nome confundido com 'retina'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Ciclo fechado com ROI; canal Oracle; marca sempre com tagline e símbolo; nomes reserva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4A5C"/>
                          </a:solidFill>
                          <a:latin typeface="Segoe UI"/>
                        </a:rPr>
                        <a:t>Manual de marca e posicionamento definidos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28</a:t>
            </a:r>
          </a:p>
        </p:txBody>
      </p:sp>
      <p:pic>
        <p:nvPicPr>
          <p:cNvPr id="7" name="Picture 6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6F7F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A8 · RICH PICTURE E MAPA DE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Atualizados na Fase 6 após validação e integração Oracle.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1_rich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3518"/>
            <a:ext cx="5303520" cy="32533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_mapa_stakeh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22690"/>
            <a:ext cx="5303520" cy="3255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 · Banca Final 23/09/2026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29</a:t>
            </a:r>
          </a:p>
        </p:txBody>
      </p:sp>
      <p:pic>
        <p:nvPicPr>
          <p:cNvPr id="10" name="Picture 9" descr="retena_horizontal_escuro_sobre_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84048"/>
            <a:ext cx="1421587" cy="4023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