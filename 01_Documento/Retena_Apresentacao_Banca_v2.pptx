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FFFFFF"/>
                </a:solidFill>
                <a:latin typeface="Segoe UI"/>
              </a:rPr>
              <a:t>Alunos da Fase 1 que seguem ativos em cada fase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Alunos ativos (ingressantes da F1)</c:v>
                </c:pt>
              </c:strCache>
            </c:strRef>
          </c:tx>
          <c:spPr>
            <a:solidFill>
              <a:srgbClr val="2EC4B6"/>
            </a:solidFill>
          </c:spPr>
          <c:dPt>
            <c:idx val="0"/>
            <c:spPr>
              <a:solidFill>
                <a:srgbClr val="2EC4B6"/>
              </a:solidFill>
            </c:spPr>
          </c:dPt>
          <c:dPt>
            <c:idx val="1"/>
            <c:spPr>
              <a:solidFill>
                <a:srgbClr val="2EC4B6"/>
              </a:solidFill>
            </c:spPr>
          </c:dPt>
          <c:dPt>
            <c:idx val="2"/>
            <c:spPr>
              <a:solidFill>
                <a:srgbClr val="2EC4B6"/>
              </a:solidFill>
            </c:spPr>
          </c:dPt>
          <c:dPt>
            <c:idx val="3"/>
            <c:spPr>
              <a:solidFill>
                <a:srgbClr val="2EC4B6"/>
              </a:solidFill>
            </c:spPr>
          </c:dPt>
          <c:dPt>
            <c:idx val="4"/>
            <c:spPr>
              <a:solidFill>
                <a:srgbClr val="FFB703"/>
              </a:solidFill>
            </c:spPr>
          </c:dPt>
          <c:cat>
            <c:strRef>
              <c:f>Sheet1!$A$2:$A$6</c:f>
              <c:strCache>
                <c:ptCount val="5"/>
                <c:pt idx="0">
                  <c:v>Fase 1</c:v>
                </c:pt>
                <c:pt idx="1">
                  <c:v>Fase 2</c:v>
                </c:pt>
                <c:pt idx="2">
                  <c:v>Fase 3</c:v>
                </c:pt>
                <c:pt idx="3">
                  <c:v>Fase 4</c:v>
                </c:pt>
                <c:pt idx="4">
                  <c:v>Fase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175</c:v>
                </c:pt>
                <c:pt idx="1">
                  <c:v>165</c:v>
                </c:pt>
                <c:pt idx="2">
                  <c:v>165</c:v>
                </c:pt>
                <c:pt idx="3">
                  <c:v>161</c:v>
                </c:pt>
                <c:pt idx="4">
                  <c:v>154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E5A82"/>
            </a:solidFill>
          </a:ln>
        </c:spPr>
        <c:txPr>
          <a:bodyPr/>
          <a:lstStyle/>
          <a:p>
            <a:pPr>
              <a:defRPr sz="11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B2545"/>
                </a:solidFill>
                <a:latin typeface="Segoe UI"/>
              </a:rPr>
              <a:t>Taxa observada de inatividade por faixa de risco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Inatividade observada</c:v>
                </c:pt>
              </c:strCache>
            </c:strRef>
          </c:tx>
          <c:dPt>
            <c:idx val="0"/>
            <c:spPr>
              <a:solidFill>
                <a:srgbClr val="FF6B4A"/>
              </a:solidFill>
            </c:spPr>
          </c:dPt>
          <c:dPt>
            <c:idx val="1"/>
            <c:spPr>
              <a:solidFill>
                <a:srgbClr val="FFB703"/>
              </a:solidFill>
            </c:spPr>
          </c:dPt>
          <c:dPt>
            <c:idx val="2"/>
            <c:spPr>
              <a:solidFill>
                <a:srgbClr val="2EC4B6"/>
              </a:solidFill>
            </c:spPr>
          </c:dPt>
          <c:cat>
            <c:strRef>
              <c:f>Sheet1!$A$2:$A$4</c:f>
              <c:strCache>
                <c:ptCount val="3"/>
                <c:pt idx="0">
                  <c:v>Alto (≥ 0,60)</c:v>
                </c:pt>
                <c:pt idx="1">
                  <c:v>Médio (0,30–0,60)</c:v>
                </c:pt>
                <c:pt idx="2">
                  <c:v>Baixo (&lt; 0,30)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95.2</c:v>
                </c:pt>
                <c:pt idx="1">
                  <c:v>48.7</c:v>
                </c:pt>
                <c:pt idx="2">
                  <c:v>14.3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 b="1">
                  <a:solidFill>
                    <a:srgbClr val="0B254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2E8F0"/>
            </a:solidFill>
          </a:ln>
        </c:spPr>
        <c:txPr>
          <a:bodyPr/>
          <a:lstStyle/>
          <a:p>
            <a:pPr>
              <a:defRPr sz="1050">
                <a:solidFill>
                  <a:srgbClr val="3A4A5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Gancho (40 s): Toda noite, milhões de brasileiros abrem o notebook depois do trabalho para estudar a distância. Todo ano, quatro em cada dez desistem. Ninguém desiste de repente — mas a instituição só percebe quando a mensalidade para. Nós somos a Retena.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Problema (1 min): 41,6% de desistência anual no EAD em 2024, recorde da série. O EAD virou maioria das matrículas. Cada aluno que evade leva R$ 3 a 5 mil de receita anual e um custo de captação acima de R$ 1.000. E a instituição descobre semanas depois, no financeiro.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Público (1 min): nosso cliente é a IES privada com EAD. Quem compra é a diretora de operações, que responde pela receita. Quem usa é a coordenadora de permanência e seus tutores, que hoje agem no escuro sobre 30% de alunos inativos. O beneficiário é o aluno trabalhador que estuda à noite.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Evidência (1 min): analisamos 685 mil eventos de 203 alunos em cinco fases. Em um único dia, 61 alunos — 30% — estavam há mais de duas semanas sem acessar. 12% dos ingressantes se perderam em sete meses. Os travamentos se repetem nos mesmos capítulos. O LMS já sabia.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Atrito (40 s): o mapa mostra, por fase e capítulo, onde os alunos param. Isso fecha o ciclo entre aluno e conteúdo: além de chamar o aluno, a coordenação pedagógica sabe o que ajustar.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Solução (1 min): a Retena transforma os logs em três coisas: um score de risco por aluno, um diagnóstico de atrito de conteúdo e uma fila semanal de intervenção com motivo, ação e horário. Toda segunda a coordenação sabe quem chamar; toda sexta, quem voltou.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Demonstração ao vivo (1 min): abrir o dashboard publicado. Mostrar os KPIs, a fila de segunda (buscar Aluno 0227 e clicar para abrir os fatores e a ação sugerida) e o mapa de atrito. Tudo com a base real anonimizada.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Oracle (1 min): por que ninguém fez assim antes? BI mostra o passado, CRM cobra tarde e analytics exige cientistas de dados. A Retena roda onde o dado já está: dentro do Oracle AI Database. Features em SQL, treino e scoring com Oracle Machine Learning, sem o dado sair do banco. Em produção: Autonomous AI Database, APEX e Select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Evidência Oracle (40 s): isto não é um desenho. Neste projeto carregamos os 685 mil eventos no Oracle AI Database 26ai Free, calculamos as features em SQL, treinamos três modelos dentro do banco com DBMS_DATA_MINING e expusemos o risco por SQL e JSON. Random Forest com AUC 0,949 no teste temporal.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Resultados (50 s): treinamos nos primeiros meses e testamos nos seguintes, sem olhar o futuro. AUC 0,88; entre os 20% apontados como maior risco, 88% de fato ficaram inativos; na faixa Alto, 95 em cada 100. E dizemos as limitações: amostra de um curso, rótulo comportamental, AUC 0,74 no subconjunto acionável.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Versão 2 (40 s): depois da entrega, incorporamos o pipeline EduRetain de um integrante como benchmark. Nenhuma configuração dele supera o baseline logístico já presente, e a vantagem em F2 dos modelos balanceados é efeito de limiar. Rodamos ainda o método no OULAD, dataset público da Open University, para provar a portabilidade que o pitch afirma.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Diferencial (40 s): só a Retena junta quem, onde e resultado — risco por aluno, atrito por capítulo e reativação medida em R$ — sem tirar o dado da instituição, e cada intervenção retreina o modelo. Ficou viável agora: ML in-database maduro e EAD como maioria.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Monetização (50 s): SaaS por aluno ativo por mês, de três a seis reais conforme o porte, com piloto de 90 dias e meta de rematrícula. Uma IES de 12 mil alunos paga cerca de R$ 576 mil por ano; reter 1,1% da base já paga o contrato, e cada ponto de desistência evitado vale meio milhão por 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Mercado (40 s): 2.244 IES privadas e 5,2 milhões de alunos EAD. Alvo inicial: IES de médio porte fora dos megagrupos. O modelo é portátil para qualquer LMS Moodle-like, o que abre caminho para o ensino técnico e corporativo; megagrupos entram na fase 2 via ecossistema Oracle.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Validação (40 s): três frentes — dados reais, INEP/Semesp e o instrumento de entrevistas. Se perguntarem sobre as entrevistas: foram simuladas com personas sintéticas para calibrar o roteiro e antecipar objeções; estão rotuladas assim no documento e serão confirmadas em campo antes do piloto.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Próximos passos (30 s): vídeo e formulário enviados; banca em 23/09; NEXT em 24/10 com Autonomous + APEX; piloto de 90 dias com meta de rematrícula. Pedimos apoio para o Autonomous Always Free, uma IES parceira e mentoria comercial.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 (30 s): a evasão não é um evento, é um processo silencioso que dura semanas. A Retena escuta esse silêncio e devolve tempo para quem pode agir. Ninguém desiste de repente. A Retena percebe antes.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1.jp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luno_noite.jpg"/>
          <p:cNvPicPr>
            <a:picLocks noChangeAspect="1"/>
          </p:cNvPicPr>
          <p:nvPr/>
        </p:nvPicPr>
        <p:blipFill>
          <a:blip r:embed="rId2"/>
          <a:srcRect l="28501" r="28501"/>
          <a:stretch>
            <a:fillRect/>
          </a:stretch>
        </p:blipFill>
        <p:spPr>
          <a:xfrm>
            <a:off x="6949440" y="0"/>
            <a:ext cx="524225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0B2545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retena_horizontal_claro_sobre_esc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2907792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965960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STARTUP ONE · ENTERPRISE CHALLENGE ORACLE · FIAP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62179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</a:rPr>
              <a:t>Ninguém desiste de repente.</a:t>
            </a:r>
          </a:p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2EC4B6"/>
                </a:solidFill>
                <a:latin typeface="Segoe UI"/>
              </a:rPr>
              <a:t>A Retena percebe antes.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43400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DDE6F0"/>
                </a:solidFill>
                <a:latin typeface="Segoe UI"/>
              </a:rPr>
              <a:t>Radar de permanência para o ensino superior EAD: lê os sinais do LMS e entrega, toda segunda, quem está a duas semanas de sumir — por quê e o que fazer. Dentro do Oracle AI Database.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9D6E4"/>
                </a:solidFill>
                <a:latin typeface="Segoe UI"/>
              </a:rPr>
              <a:t>Lucas Dalmas (RM551178) · Lucas Emanuel (RM97881) · Kayque Moraes (RM97592)</a:t>
            </a:r>
          </a:p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C9D6E4"/>
                </a:solidFill>
                <a:latin typeface="Segoe UI"/>
              </a:rPr>
              <a:t>Lucas Henklain (RM99350) · Vinicius Pinheiro (RM99198)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Banca Final · 23/09/2026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2545"/>
                </a:solidFill>
                <a:latin typeface="Segoe UI"/>
              </a:rPr>
              <a:t>A instituição descobre a evasão quando a mensalidade para.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A4A5C"/>
                </a:solidFill>
                <a:latin typeface="Segoe UI"/>
              </a:rPr>
              <a:t>DESISTÊNCIA ANUAL NO EAD · 2024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0" b="1" i="0">
                <a:solidFill>
                  <a:srgbClr val="FF6B4A"/>
                </a:solidFill>
                <a:latin typeface="Segoe UI"/>
              </a:rPr>
              <a:t>41,6%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A4A5C"/>
                </a:solidFill>
                <a:latin typeface="Segoe UI"/>
              </a:rPr>
              <a:t>o maior índice da série histórica (presencial: 24,8%). Fonte: Instituto Semesp, 16º Mapa do Ensino Superior 2026.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51960"/>
            <a:ext cx="1737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" y="437083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B2545"/>
                </a:solidFill>
                <a:latin typeface="Segoe UI"/>
              </a:rPr>
              <a:t>50,7%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864608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2545"/>
                </a:solidFill>
                <a:latin typeface="Segoe UI"/>
              </a:rPr>
              <a:t>das matrículas já são 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468112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INEP, Censo 2024: 5,19 mi alunos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4251960"/>
            <a:ext cx="1737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587752" y="437083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B2545"/>
                </a:solidFill>
                <a:latin typeface="Segoe UI"/>
              </a:rPr>
              <a:t>R$ 3–5 mil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7752" y="4864608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2545"/>
                </a:solidFill>
                <a:latin typeface="Segoe UI"/>
              </a:rPr>
              <a:t>por aluno que evade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7752" y="5468112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receita anual perdida (estimativa)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4251960"/>
            <a:ext cx="17373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62271" y="4370832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B2545"/>
                </a:solidFill>
                <a:latin typeface="Segoe UI"/>
              </a:rPr>
              <a:t>Semanas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1" y="4864608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B2545"/>
                </a:solidFill>
                <a:latin typeface="Segoe UI"/>
              </a:rPr>
              <a:t>de atraso na descoberta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1" y="5468112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o LMS registra cada sinal antes</a:t>
            </a:r>
          </a:p>
        </p:txBody>
      </p:sp>
      <p:pic>
        <p:nvPicPr>
          <p:cNvPr id="19" name="Picture 18" descr="desistindo.jpg"/>
          <p:cNvPicPr>
            <a:picLocks noChangeAspect="1"/>
          </p:cNvPicPr>
          <p:nvPr/>
        </p:nvPicPr>
        <p:blipFill>
          <a:blip r:embed="rId2"/>
          <a:srcRect l="13797" r="13797"/>
          <a:stretch>
            <a:fillRect/>
          </a:stretch>
        </p:blipFill>
        <p:spPr>
          <a:xfrm>
            <a:off x="6126480" y="1737360"/>
            <a:ext cx="5532120" cy="429768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8138160" y="5074920"/>
            <a:ext cx="33832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75320" y="5138928"/>
            <a:ext cx="31089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BI mostra o passado. CRM cobra tarde. </a:t>
            </a:r>
            <a:r>
              <a:rPr sz="1150" b="1" i="0">
                <a:solidFill>
                  <a:srgbClr val="0B2545"/>
                </a:solidFill>
                <a:latin typeface="Segoe UI"/>
              </a:rPr>
              <a:t>A Retena age no meio: quando ainda dá tempo de chamar de volta.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2</a:t>
            </a:r>
          </a:p>
        </p:txBody>
      </p:sp>
      <p:pic>
        <p:nvPicPr>
          <p:cNvPr id="24" name="Picture 23" descr="retena_horizontal_escuro_sobre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PARA QUEM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2545"/>
                </a:solidFill>
                <a:latin typeface="Segoe UI"/>
              </a:rPr>
              <a:t>Quem compra, quem usa e o aluno no centro.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204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coordenadora.jpg"/>
          <p:cNvPicPr>
            <a:picLocks noChangeAspect="1"/>
          </p:cNvPicPr>
          <p:nvPr/>
        </p:nvPicPr>
        <p:blipFill>
          <a:blip r:embed="rId2"/>
          <a:srcRect t="9596" b="9596"/>
          <a:stretch>
            <a:fillRect/>
          </a:stretch>
        </p:blipFill>
        <p:spPr>
          <a:xfrm>
            <a:off x="548640" y="1783080"/>
            <a:ext cx="3520440" cy="1600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32004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B2545"/>
                </a:solidFill>
                <a:latin typeface="Segoe UI"/>
              </a:rPr>
              <a:t>COMPRA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2545"/>
                </a:solidFill>
                <a:latin typeface="Segoe UI"/>
              </a:rPr>
              <a:t>Renata · Diretora de Operações Acadêmicas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Responde pela receita das mensalidades e pela meta de permanência em um centro universitário com ~12 mil alunos EAD.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5212079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5120640"/>
            <a:ext cx="2898648" cy="491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Quer ver a evasão em R$ e o retorno em rematrícula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5813755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5722315"/>
            <a:ext cx="2898648" cy="491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Objeções: LGPD, projeto de TI, "já tenho BI"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783080"/>
            <a:ext cx="35204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tutor.jpg"/>
          <p:cNvPicPr>
            <a:picLocks noChangeAspect="1"/>
          </p:cNvPicPr>
          <p:nvPr/>
        </p:nvPicPr>
        <p:blipFill>
          <a:blip r:embed="rId3"/>
          <a:srcRect t="9596" b="9596"/>
          <a:stretch>
            <a:fillRect/>
          </a:stretch>
        </p:blipFill>
        <p:spPr>
          <a:xfrm>
            <a:off x="4297679" y="1783080"/>
            <a:ext cx="3520440" cy="16002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480559" y="32004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80559" y="320040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B2545"/>
                </a:solidFill>
                <a:latin typeface="Segoe UI"/>
              </a:rPr>
              <a:t>USA TODA SEGUNDA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61188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2545"/>
                </a:solidFill>
                <a:latin typeface="Segoe UI"/>
              </a:rPr>
              <a:t>Mariana · Coordenadora de Permanência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416052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Lidera 12 tutores. Hoje descobre a evasão tarde e prioriza no escuro, sem critério nem registro do que funcionou.</a:t>
            </a:r>
          </a:p>
        </p:txBody>
      </p:sp>
      <p:sp>
        <p:nvSpPr>
          <p:cNvPr id="20" name="Oval 19"/>
          <p:cNvSpPr/>
          <p:nvPr/>
        </p:nvSpPr>
        <p:spPr>
          <a:xfrm>
            <a:off x="4480559" y="5212079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5120640"/>
            <a:ext cx="2898648" cy="491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Quer a lista de quem chamar, por quê e como</a:t>
            </a:r>
          </a:p>
        </p:txBody>
      </p:sp>
      <p:sp>
        <p:nvSpPr>
          <p:cNvPr id="22" name="Oval 21"/>
          <p:cNvSpPr/>
          <p:nvPr/>
        </p:nvSpPr>
        <p:spPr>
          <a:xfrm>
            <a:off x="4480559" y="5813755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5722315"/>
            <a:ext cx="2898648" cy="491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KPI: alunos em risco reengajados em 30 dias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1783080"/>
            <a:ext cx="35204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aluno_noite.jpg"/>
          <p:cNvPicPr>
            <a:picLocks noChangeAspect="1"/>
          </p:cNvPicPr>
          <p:nvPr/>
        </p:nvPicPr>
        <p:blipFill>
          <a:blip r:embed="rId4"/>
          <a:srcRect t="9596" b="9596"/>
          <a:stretch>
            <a:fillRect/>
          </a:stretch>
        </p:blipFill>
        <p:spPr>
          <a:xfrm>
            <a:off x="8046719" y="1783080"/>
            <a:ext cx="3520440" cy="16002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8229599" y="320040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599" y="3200400"/>
            <a:ext cx="13716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0B2545"/>
                </a:solidFill>
                <a:latin typeface="Segoe UI"/>
              </a:rPr>
              <a:t>BENEFICIÁRIO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361188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B2545"/>
                </a:solidFill>
                <a:latin typeface="Segoe UI"/>
              </a:rPr>
              <a:t>Aluno EAD trabalhador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9" y="4160520"/>
            <a:ext cx="3154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Estuda das 19h às 22h, de segunda a quinta. Trava em um capítulo, perde o ritmo por duas semanas e, sem ninguém perceber, desiste.</a:t>
            </a:r>
          </a:p>
        </p:txBody>
      </p:sp>
      <p:sp>
        <p:nvSpPr>
          <p:cNvPr id="30" name="Oval 29"/>
          <p:cNvSpPr/>
          <p:nvPr/>
        </p:nvSpPr>
        <p:spPr>
          <a:xfrm>
            <a:off x="8229599" y="5212079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1" y="5120640"/>
            <a:ext cx="2898648" cy="491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Responde a um plano concreto, não a cobrança</a:t>
            </a:r>
          </a:p>
        </p:txBody>
      </p:sp>
      <p:sp>
        <p:nvSpPr>
          <p:cNvPr id="32" name="Oval 31"/>
          <p:cNvSpPr/>
          <p:nvPr/>
        </p:nvSpPr>
        <p:spPr>
          <a:xfrm>
            <a:off x="8229599" y="5813755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85631" y="5722315"/>
            <a:ext cx="2898648" cy="3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Contato à noite, por WhatsApp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3</a:t>
            </a:r>
          </a:p>
        </p:txBody>
      </p:sp>
      <p:pic>
        <p:nvPicPr>
          <p:cNvPr id="36" name="Picture 35" descr="retena_horizontal_escuro_sobre_cla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EVIDÊNCIA NA BASE REAL (ANONIMIZADA)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O LMS já sabia. Só faltava alguém ouvir.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484632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EC4B6"/>
                </a:solidFill>
                <a:latin typeface="Segoe UI"/>
              </a:rPr>
              <a:t>684.723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877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93852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eventos de 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24028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203 alunos · 5 fases · jan–ago/2026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484632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EC4B6"/>
                </a:solidFill>
                <a:latin typeface="Segoe UI"/>
              </a:rPr>
              <a:t>61 alunos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8503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03580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30% da turma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33756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há mais de 14 dias sem acesso, em um único dia — sem alerta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484632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4069079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EC4B6"/>
                </a:solidFill>
                <a:latin typeface="Segoe UI"/>
              </a:rPr>
              <a:t>12%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8231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133087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dos ingressantes perdidos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4348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em 7 meses: funil 94% → 94% → 92% → 88%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120640"/>
            <a:ext cx="484632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5166359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EC4B6"/>
                </a:solidFill>
                <a:latin typeface="Segoe UI"/>
              </a:rPr>
              <a:t>19h–22h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7959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230368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pico de estudo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5321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de segunda a quinta: o aluno trabalhador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852160" y="1783080"/>
          <a:ext cx="585216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9D6E4"/>
                </a:solidFill>
                <a:latin typeface="Segoe UI"/>
              </a:rPr>
              <a:t>Fase 5 em andamento (ago/2026). 9 alunos aparecem só na F1; 8 param após a F4.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4</a:t>
            </a:r>
          </a:p>
        </p:txBody>
      </p:sp>
      <p:pic>
        <p:nvPicPr>
          <p:cNvPr id="28" name="Picture 27" descr="retena_horizontal_claro_sobre_esc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ONDE OS ALUNOS TRAVAM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2545"/>
                </a:solidFill>
                <a:latin typeface="Segoe UI"/>
              </a:rPr>
              <a:t>Atrito de conteúdo: conhecido de ouvido, nunca medido.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69494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ig_atrit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19756"/>
            <a:ext cx="6675120" cy="267004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863840" y="1965960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9871" y="1874519"/>
            <a:ext cx="3538728" cy="7635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A4A5C"/>
                </a:solidFill>
                <a:latin typeface="Segoe UI"/>
              </a:rPr>
              <a:t>Mapa fase × capítulo: taxa de queda (alunos que chegaram ao capítulo e não avançaram) ponderada pelo esforço relativo.</a:t>
            </a:r>
          </a:p>
        </p:txBody>
      </p:sp>
      <p:sp>
        <p:nvSpPr>
          <p:cNvPr id="8" name="Oval 7"/>
          <p:cNvSpPr/>
          <p:nvPr/>
        </p:nvSpPr>
        <p:spPr>
          <a:xfrm>
            <a:off x="7863840" y="2875788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1" y="2784348"/>
            <a:ext cx="3538728" cy="7635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A4A5C"/>
                </a:solidFill>
                <a:latin typeface="Segoe UI"/>
              </a:rPr>
              <a:t>Cauda de travamento nos capítulos 1–3 de todas as fases; na F5 (em andamento), 25 alunos parados nos caps 1–2.</a:t>
            </a:r>
          </a:p>
        </p:txBody>
      </p:sp>
      <p:sp>
        <p:nvSpPr>
          <p:cNvPr id="10" name="Oval 9"/>
          <p:cNvSpPr/>
          <p:nvPr/>
        </p:nvSpPr>
        <p:spPr>
          <a:xfrm>
            <a:off x="7863840" y="3785615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9871" y="3694176"/>
            <a:ext cx="3538728" cy="7635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A4A5C"/>
                </a:solidFill>
                <a:latin typeface="Segoe UI"/>
              </a:rPr>
              <a:t>Piores capítulos encerrados: Cap 2 da F4 ("Estudo de Caso", esforço 3,4× o típico), Cap 2 da F3 e Cap 11 da F2.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0" y="4695444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1" y="4604004"/>
            <a:ext cx="3538728" cy="7635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A4A5C"/>
                </a:solidFill>
                <a:latin typeface="Segoe UI"/>
              </a:rPr>
              <a:t>Conteúdo quase só em HTML (323 mil eventos) contra 18,6 mil em PDF e quase nada em vídeo e áudio.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0" y="5605272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1" y="5513832"/>
            <a:ext cx="3538728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3A4A5C"/>
                </a:solidFill>
                <a:latin typeface="Segoe UI"/>
              </a:rPr>
              <a:t>Cada célula vira uma recomendação para a coordenação pedagógica: dividir capítulo, inserir quiz de checagem, oferecer vídeo curto.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5</a:t>
            </a:r>
          </a:p>
        </p:txBody>
      </p:sp>
      <p:pic>
        <p:nvPicPr>
          <p:cNvPr id="18" name="Picture 17" descr="retena_horizontal_escuro_sobre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Três entregas, toda semana.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777240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Score de risco explicável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9D6E4"/>
                </a:solidFill>
                <a:latin typeface="Segoe UI"/>
              </a:rPr>
              <a:t>Probabilidade de o aluno ficar 21 dias sem acessar, recalculada todo domingo, com os motivos em linguagem simples: "12 dias sem acesso, queda de 70% nos eventos, parado no cap 2 da F5".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78308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4526279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79" y="2011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6060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Mapa de atrito de conteúdo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30175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9D6E4"/>
                </a:solidFill>
                <a:latin typeface="Segoe UI"/>
              </a:rPr>
              <a:t>Capítulos e formatos onde os alunos travam, com recomendação concreta para a coordenação pedagógica.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783080"/>
            <a:ext cx="3520440" cy="237744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275319" y="2011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75319" y="20116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6060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Fila semanal de intervenção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30175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9D6E4"/>
                </a:solidFill>
                <a:latin typeface="Segoe UI"/>
              </a:rPr>
              <a:t>Quem contatar, por quê, quando (19h–22h) e o que dizer — com template de mensagem, "kit de retomada" e resultado registrado em um clique, medido em R$.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34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O RITUAL DA SEMANA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80060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5800" y="4892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C4B6"/>
                </a:solidFill>
                <a:latin typeface="Segoe UI"/>
              </a:rPr>
              <a:t>Domingo 23h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30368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logs viram features e scores dentro do banco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2578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16352" y="480060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953512" y="4892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C4B6"/>
                </a:solidFill>
                <a:latin typeface="Segoe UI"/>
              </a:rPr>
              <a:t>Segunda 8h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53512" y="5230368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coordenadora abre a fila priorizada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9472" y="52578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84064" y="480060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221224" y="4892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C4B6"/>
                </a:solidFill>
                <a:latin typeface="Segoe UI"/>
              </a:rPr>
              <a:t>Terça a quinta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21224" y="5230368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tutores contatam no horário em que o aluno estuda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87183" y="52578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51775" y="480060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88936" y="4892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C4B6"/>
                </a:solidFill>
                <a:latin typeface="Segoe UI"/>
              </a:rPr>
              <a:t>Sexta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88936" y="5230368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resultado registrado: reativado, sem resposta, plano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54896" y="5257800"/>
            <a:ext cx="182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19488" y="4800600"/>
            <a:ext cx="2103120" cy="1234440"/>
          </a:xfrm>
          <a:prstGeom prst="roundRect">
            <a:avLst>
              <a:gd name="adj" fmla="val 8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756648" y="48920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C4B6"/>
                </a:solidFill>
                <a:latin typeface="Segoe UI"/>
              </a:rPr>
              <a:t>Mensal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5230368"/>
            <a:ext cx="1828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receita preservada em R$ e retreino do modelo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6</a:t>
            </a:r>
          </a:p>
        </p:txBody>
      </p:sp>
      <p:pic>
        <p:nvPicPr>
          <p:cNvPr id="41" name="Picture 40" descr="retena_horizontal_claro_sobre_e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DEMONSTRAÇÃO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2545"/>
                </a:solidFill>
                <a:latin typeface="Segoe UI"/>
              </a:rPr>
              <a:t>Dashboard do MVP com a base real: 196 alunos pontuados.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758952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dashboard_hero_1920x1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59" y="1874519"/>
            <a:ext cx="739648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58200" y="1783080"/>
            <a:ext cx="3200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41080" y="1874519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6 KPIs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167128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ativos, alto risco, &gt;14 dias sem acesso, receita em risco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715768"/>
            <a:ext cx="3200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41080" y="280720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Fila de segunda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3099815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196 alunos, ordenável, busca e filtros; clique abre fatores e ação sugerida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3648456"/>
            <a:ext cx="3200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41080" y="3739896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Mapa de atrito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4032504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heatmap fase × capítulo e 20 recomendações priorizadas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4581144"/>
            <a:ext cx="3200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41080" y="4672583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0B2545"/>
                </a:solidFill>
                <a:latin typeface="Segoe UI"/>
              </a:rPr>
              <a:t>Modelo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965192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métricas, calibração, importância e estabilidade por semana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5532120"/>
            <a:ext cx="3200400" cy="59436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58200" y="553212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lucashenklain.github.io/retena/dashboard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7</a:t>
            </a:r>
          </a:p>
        </p:txBody>
      </p:sp>
      <p:pic>
        <p:nvPicPr>
          <p:cNvPr id="22" name="Picture 21" descr="retena_horizontal_escuro_sobre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POR QUE DENTRO DO ORACLE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2545"/>
                </a:solidFill>
                <a:latin typeface="Segoe UI"/>
              </a:rPr>
              <a:t>O modelo roda onde o dado já mora.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786384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06_arquitetura_ora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090" y="1847088"/>
            <a:ext cx="6882938" cy="420624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686800" y="1920240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42832" y="1828800"/>
            <a:ext cx="2715768" cy="9034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Oracle Autonomous AI Database 26ai: eventos, features em SQL, treino e scoring in-database (Oracle Machine Learning, DBMS_DATA_MINING).</a:t>
            </a:r>
          </a:p>
        </p:txBody>
      </p:sp>
      <p:sp>
        <p:nvSpPr>
          <p:cNvPr id="8" name="Oval 7"/>
          <p:cNvSpPr/>
          <p:nvPr/>
        </p:nvSpPr>
        <p:spPr>
          <a:xfrm>
            <a:off x="8686800" y="2988259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42832" y="2896819"/>
            <a:ext cx="2715768" cy="9034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PREDICTION_PROBABILITY e PREDICTION_DETAILS geram score e motivo; views JSON alimentam APEX, Select AI e API.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0" y="4056278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2832" y="3964838"/>
            <a:ext cx="2715768" cy="9034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Oracle APEX para o painel; Select AI para perguntas em português; Object Storage e DBMS_SCHEDULER para ingestão e retreino.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0" y="5124297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42832" y="5032857"/>
            <a:ext cx="2715768" cy="9034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A5C"/>
                </a:solidFill>
                <a:latin typeface="Segoe UI"/>
              </a:rPr>
              <a:t>O dado do aluno não sai da instituição: LGPD por arquitetura, sem servidor de ML nem cientista de dados dedicado.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8</a:t>
            </a:r>
          </a:p>
        </p:txBody>
      </p:sp>
      <p:pic>
        <p:nvPicPr>
          <p:cNvPr id="16" name="Picture 15" descr="retena_horizontal_escuro_sobre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INTEGRAÇÃO EXECUTADA, NÃO DESENHADA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Oracle 26ai Free + Oracle Machine Learning: já funciona.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6766560" cy="434340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evidencia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862" y="1856231"/>
            <a:ext cx="4180114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783080"/>
            <a:ext cx="406908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0" y="1892807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684.723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0" y="1892807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eventos carregados via python-oracledb em 72 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2880360"/>
            <a:ext cx="406908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0" y="299008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3 modelos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299008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Random Forest e GLM treinados com DBMS_DATA_MINING, in-database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977639"/>
            <a:ext cx="406908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0" y="408736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AUC 0,949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408736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Random Forest no teste temporal (cortes ≥ jun/2026), calculado por COMPUTE_ROC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5074920"/>
            <a:ext cx="4069080" cy="9601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0" y="518464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EC4B6"/>
                </a:solidFill>
                <a:latin typeface="Segoe UI"/>
              </a:rPr>
              <a:t>SQL +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5184648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PREDICTION_PROBABILITY, PREDICTION_DETAILS, views JSON e Duality View; job semanal com DBMS_SCHEDULER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6199632"/>
            <a:ext cx="4069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C9D6E4"/>
                </a:solidFill>
                <a:latin typeface="Segoe UI"/>
              </a:rPr>
              <a:t>Evidências com timestamps em 06_Oracle/evidencias (HTML, TXT, CSV, PNG).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9</a:t>
            </a:r>
          </a:p>
        </p:txBody>
      </p:sp>
      <p:pic>
        <p:nvPicPr>
          <p:cNvPr id="21" name="Picture 20" descr="retena_horizontal_claro_sobre_esc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RESULTADOS DO MODELO · TESTE TEMPORAL (JUN–AGO/2026)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2545"/>
                </a:solidFill>
                <a:latin typeface="Segoe UI"/>
              </a:rPr>
              <a:t>Treinado no passado, testado no futuro. Sem retoque.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B2545"/>
                </a:solidFill>
                <a:latin typeface="Segoe UI"/>
              </a:rPr>
              <a:t>0,88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8775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AUC-ROC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53511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modelo de inatividade em 21 dias (gradient boosting); baseline logística 0,89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78308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47872" y="1874519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B2545"/>
                </a:solidFill>
                <a:latin typeface="Segoe UI"/>
              </a:rPr>
              <a:t>88%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258775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precisão no top-20%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2953511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dos alunos priorizados, 88 em 100 ficaram inativos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78308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64224" y="1874519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B2545"/>
                </a:solidFill>
                <a:latin typeface="Segoe UI"/>
              </a:rPr>
              <a:t>3,06×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58775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lift no top-20%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953511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priorizar pela Retena acerta 3× mais do que ao acaso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178308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180576" y="1874519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B2545"/>
                </a:solidFill>
                <a:latin typeface="Segoe UI"/>
              </a:rPr>
              <a:t>0,93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258775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AUC · transição de fase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2953511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quem não inicia a fase seguinte (leave-one-phase-out)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548640" y="3703320"/>
          <a:ext cx="585216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675120" y="3703320"/>
            <a:ext cx="498348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58000" y="379476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O que dizemos com honestidade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0" y="4251959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4160520"/>
            <a:ext cx="4361688" cy="491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Amostra de um curso (~200 alunos): retreino com os dados de cada IES antes de produção.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0" y="4817059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14032" y="4725619"/>
            <a:ext cx="4361688" cy="491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Rótulo comportamental (21 dias sem acesso), não cancelamento de matrícula.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0" y="5382158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4032" y="5290718"/>
            <a:ext cx="4361688" cy="664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No subconjunto de alunos ainda ativos nos 28 dias anteriores, a AUC cai para 0,74: antecipar é mais difícil do que confirmar.</a:t>
            </a:r>
          </a:p>
        </p:txBody>
      </p:sp>
      <p:sp>
        <p:nvSpPr>
          <p:cNvPr id="29" name="Oval 28"/>
          <p:cNvSpPr/>
          <p:nvPr/>
        </p:nvSpPr>
        <p:spPr>
          <a:xfrm>
            <a:off x="6858000" y="6120079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14032" y="6028639"/>
            <a:ext cx="4361688" cy="4919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Só logs de navegação: limita o teto, mas torna a solução portátil para qualquer LMS.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  <p:pic>
        <p:nvPicPr>
          <p:cNvPr id="33" name="Picture 32" descr="retena_horizontal_escuro_sobre_cla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VERSÃO 2 · O QUE O TIME ACRESCENTOU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2545"/>
                </a:solidFill>
                <a:latin typeface="Segoe UI"/>
              </a:rPr>
              <a:t>Benchmark de modelos e portabilidade do método.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8521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Benchmark no mesmo split temporal (teste jun–ago/2026)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286000"/>
          <a:ext cx="54864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914400"/>
                <a:gridCol w="914400"/>
                <a:gridCol w="914400"/>
              </a:tblGrid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Modelo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AUC-ROC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AUC-PR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</a:rPr>
                        <a:t>F2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B2545"/>
                          </a:solidFill>
                          <a:latin typeface="Segoe UI"/>
                        </a:rPr>
                        <a:t>HGB (entregue)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2545"/>
                          </a:solidFill>
                          <a:latin typeface="Segoe UI"/>
                        </a:rPr>
                        <a:t>0,882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2545"/>
                          </a:solidFill>
                          <a:latin typeface="Segoe UI"/>
                        </a:rPr>
                        <a:t>0,839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B2545"/>
                          </a:solidFill>
                          <a:latin typeface="Segoe UI"/>
                        </a:rPr>
                        <a:t>0,626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4A5C"/>
                          </a:solidFill>
                          <a:latin typeface="Segoe UI"/>
                        </a:rPr>
                        <a:t>Logística baseline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A4A5C"/>
                          </a:solidFill>
                          <a:latin typeface="Segoe UI"/>
                        </a:rPr>
                        <a:t>0,893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A4A5C"/>
                          </a:solidFill>
                          <a:latin typeface="Segoe UI"/>
                        </a:rPr>
                        <a:t>0,859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A4A5C"/>
                          </a:solidFill>
                          <a:latin typeface="Segoe UI"/>
                        </a:rPr>
                        <a:t>0,696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4A5C"/>
                          </a:solidFill>
                          <a:latin typeface="Segoe UI"/>
                        </a:rPr>
                        <a:t>Logística + balanced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A4A5C"/>
                          </a:solidFill>
                          <a:latin typeface="Segoe UI"/>
                        </a:rPr>
                        <a:t>0,889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A4A5C"/>
                          </a:solidFill>
                          <a:latin typeface="Segoe UI"/>
                        </a:rPr>
                        <a:t>0,855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A4A5C"/>
                          </a:solidFill>
                          <a:latin typeface="Segoe UI"/>
                        </a:rPr>
                        <a:t>0,766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4A5C"/>
                          </a:solidFill>
                          <a:latin typeface="Segoe UI"/>
                        </a:rPr>
                        <a:t>Logística EduRetain (L1)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A4A5C"/>
                          </a:solidFill>
                          <a:latin typeface="Segoe UI"/>
                        </a:rPr>
                        <a:t>0,882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A4A5C"/>
                          </a:solidFill>
                          <a:latin typeface="Segoe UI"/>
                        </a:rPr>
                        <a:t>0,850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A4A5C"/>
                          </a:solidFill>
                          <a:latin typeface="Segoe UI"/>
                        </a:rPr>
                        <a:t>0,759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4A5C"/>
                          </a:solidFill>
                          <a:latin typeface="Segoe UI"/>
                        </a:rPr>
                        <a:t>XGBoost (config EduRetain)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A4A5C"/>
                          </a:solidFill>
                          <a:latin typeface="Segoe UI"/>
                        </a:rPr>
                        <a:t>0,874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A4A5C"/>
                          </a:solidFill>
                          <a:latin typeface="Segoe UI"/>
                        </a:rPr>
                        <a:t>0,818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A4A5C"/>
                          </a:solidFill>
                          <a:latin typeface="Segoe UI"/>
                        </a:rPr>
                        <a:t>0,586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A4A5C"/>
                          </a:solidFill>
                          <a:latin typeface="Segoe UI"/>
                        </a:rPr>
                        <a:t>GradientBoosting padrão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A4A5C"/>
                          </a:solidFill>
                          <a:latin typeface="Segoe UI"/>
                        </a:rPr>
                        <a:t>0,811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A4A5C"/>
                          </a:solidFill>
                          <a:latin typeface="Segoe UI"/>
                        </a:rPr>
                        <a:t>0,739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A4A5C"/>
                          </a:solidFill>
                          <a:latin typeface="Segoe UI"/>
                        </a:rPr>
                        <a:t>0,543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731520" y="5120640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029200"/>
            <a:ext cx="52303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Nenhuma configuração do EduRetain supera o baseline já existente; a vantagem em F2 dos modelos balanceados é efeito de limiar, não de ordenação.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5650992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5559552"/>
            <a:ext cx="523036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HGB permanece o modelo entregue (melhor precisão a 0,5 e rastreabilidade); o limiar 0,30 da faixa Médio recupera o recall.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783080"/>
            <a:ext cx="498348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0" y="1901952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Portabilidade: o mesmo método no OULAD (Open University)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0" y="2423160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4032" y="2331720"/>
            <a:ext cx="4361688" cy="664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Dataset público da Open University (Reino Unido): 32.593 matrículas, 10,66 milhões de cliques; base aluno-semana de 730.673 linhas e 24.392 alunos.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0" y="3179368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4032" y="3087928"/>
            <a:ext cx="4361688" cy="664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Mesmo rótulo, mesmas features conceituais e mesmos hiperparâmetros do Retena; split temporal: treino 2013 (11.438 alunos), teste 2014 (14.293 alunos).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0" y="3935577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14032" y="3844137"/>
            <a:ext cx="4361688" cy="664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AUC-ROC 0,922 e lift 3,51× no top-20% (IES Demo: 0,882 e 3,06×); faixa Alto com 85% de inatividade observada contra 6% na Baixo.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0" y="4691786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4032" y="4600346"/>
            <a:ext cx="4361688" cy="837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A5C"/>
                </a:solidFill>
                <a:latin typeface="Segoe UI"/>
              </a:rPr>
              <a:t>As mesmas features dominam: dias ativos em 28 dias, recência e regularidade semanal. Módulo nunca visto no treino: AUC 0,93. Protocolo EduRetain reproduzido: sem os já desmatriculados no dia 30, a AUC cai para 0,66–0,69.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5212080"/>
            <a:ext cx="4617720" cy="777240"/>
          </a:xfrm>
          <a:prstGeom prst="roundRect">
            <a:avLst>
              <a:gd name="adj" fmla="val 8000"/>
            </a:avLst>
          </a:prstGeom>
          <a:solidFill>
            <a:srgbClr val="E6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995160" y="5266944"/>
            <a:ext cx="43891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B2545"/>
                </a:solidFill>
                <a:latin typeface="Segoe UI"/>
              </a:rPr>
              <a:t>O mesmo método, sem mudar arquitetura, concentrou 70% dos alunos que ficariam 3 semanas inativos nos 20% de maior risco, em outra instituição, outro país e outro LMS.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  <p:pic>
        <p:nvPicPr>
          <p:cNvPr id="25" name="Picture 24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DIFERENCIAL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2545"/>
                </a:solidFill>
                <a:latin typeface="Segoe UI"/>
              </a:rPr>
              <a:t>BI olha o passado, CRM cobra tarde. A Retena fecha o ciclo.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111099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4920"/>
                <a:gridCol w="1508760"/>
                <a:gridCol w="1508760"/>
                <a:gridCol w="1508760"/>
                <a:gridCol w="1508760"/>
              </a:tblGrid>
              <a:tr h="491490"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Retena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BI do LMS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CRM de cobrança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Consultoria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4A5C"/>
                          </a:solidFill>
                          <a:latin typeface="Segoe UI"/>
                        </a:rPr>
                        <a:t>Antecipa o risco semanas antes (recência, tendência, capítulo)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4A5C"/>
                          </a:solidFill>
                          <a:latin typeface="Segoe UI"/>
                        </a:rPr>
                        <a:t>Diz quem contatar, por quê, quando e o que dizer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4A5C"/>
                          </a:solidFill>
                          <a:latin typeface="Segoe UI"/>
                        </a:rPr>
                        <a:t>Mapa de atrito de conteúdo por capítulo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4A5C"/>
                          </a:solidFill>
                          <a:latin typeface="Segoe UI"/>
                        </a:rPr>
                        <a:t>Registra o resultado e mede receita preservada em R$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4A5C"/>
                          </a:solidFill>
                          <a:latin typeface="Segoe UI"/>
                        </a:rPr>
                        <a:t>Roda dentro do banco da IES (LGPD, sem ETL externo)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B703"/>
                          </a:solidFill>
                          <a:latin typeface="Segoe UI"/>
                        </a:rPr>
                        <a:t>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4A5C"/>
                          </a:solidFill>
                          <a:latin typeface="Segoe UI"/>
                        </a:rPr>
                        <a:t>Retreina com o resultado das intervenções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6F7F9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A4A5C"/>
                          </a:solidFill>
                          <a:latin typeface="Segoe UI"/>
                        </a:rPr>
                        <a:t>Implantação em semanas, sem cientista de dados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EC4B6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B2545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0B2545"/>
                          </a:solidFill>
                          <a:latin typeface="Segoe UI"/>
                        </a:rPr>
                        <a:t>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94A3B8"/>
                          </a:solidFill>
                          <a:latin typeface="Segoe UI"/>
                        </a:rPr>
                        <a:t>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● atende plenamente   ◐ atende em parte   ○ não atende. Por que não foi resolvido assim antes: dado preso em relatórios descritivos, ML exigia pipeline externo e cientista de dados, ninguém fechava o ciclo com ROI — e o EAD só virou maioria em 2024.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12</a:t>
            </a:r>
          </a:p>
        </p:txBody>
      </p:sp>
      <p:pic>
        <p:nvPicPr>
          <p:cNvPr id="8" name="Picture 7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MONETIZAÇÃO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SaaS por aluno ativo/mês, com piloto de 90 dias.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83080"/>
          <a:ext cx="60350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737360"/>
                <a:gridCol w="1645920"/>
              </a:tblGrid>
              <a:tr h="53035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B2545"/>
                          </a:solidFill>
                          <a:latin typeface="Segoe UI"/>
                        </a:rPr>
                        <a:t>Faixa de volume</a:t>
                      </a:r>
                    </a:p>
                  </a:txBody>
                  <a:tcPr anchor="ctr"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B2545"/>
                          </a:solidFill>
                          <a:latin typeface="Segoe UI"/>
                        </a:rPr>
                        <a:t>Preço / aluno ativo / mês</a:t>
                      </a:r>
                    </a:p>
                  </a:txBody>
                  <a:tcPr anchor="ctr"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B2545"/>
                          </a:solidFill>
                          <a:latin typeface="Segoe UI"/>
                        </a:rPr>
                        <a:t>Plano</a:t>
                      </a:r>
                    </a:p>
                  </a:txBody>
                  <a:tcPr anchor="ctr">
                    <a:solidFill>
                      <a:srgbClr val="2EC4B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1 mil a 10 mil alunos</a:t>
                      </a:r>
                    </a:p>
                  </a:txBody>
                  <a:tcPr anchor="ctr">
                    <a:solidFill>
                      <a:srgbClr val="16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R$ 6,00</a:t>
                      </a:r>
                    </a:p>
                  </a:txBody>
                  <a:tcPr anchor="ctr">
                    <a:solidFill>
                      <a:srgbClr val="16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Pro</a:t>
                      </a:r>
                    </a:p>
                  </a:txBody>
                  <a:tcPr anchor="ctr">
                    <a:solidFill>
                      <a:srgbClr val="16355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10 mil a 50 mil alunos</a:t>
                      </a:r>
                    </a:p>
                  </a:txBody>
                  <a:tcPr anchor="ctr"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R$ 4,00</a:t>
                      </a:r>
                    </a:p>
                  </a:txBody>
                  <a:tcPr anchor="ctr"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Pro</a:t>
                      </a:r>
                    </a:p>
                  </a:txBody>
                  <a:tcPr anchor="ctr">
                    <a:solidFill>
                      <a:srgbClr val="13315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Acima de 50 mil (megagrupos)</a:t>
                      </a:r>
                    </a:p>
                  </a:txBody>
                  <a:tcPr anchor="ctr">
                    <a:solidFill>
                      <a:srgbClr val="16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R$ 3,00</a:t>
                      </a:r>
                    </a:p>
                  </a:txBody>
                  <a:tcPr anchor="ctr">
                    <a:solidFill>
                      <a:srgbClr val="1635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Enterprise · fase 2</a:t>
                      </a:r>
                    </a:p>
                  </a:txBody>
                  <a:tcPr anchor="ctr">
                    <a:solidFill>
                      <a:srgbClr val="16355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Menos de 5 mil alunos</a:t>
                      </a:r>
                    </a:p>
                  </a:txBody>
                  <a:tcPr anchor="ctr"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R$ 2,00 · mín. R$ 2,5 mil/mês</a:t>
                      </a:r>
                    </a:p>
                  </a:txBody>
                  <a:tcPr anchor="ctr"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FFFFFF"/>
                          </a:solidFill>
                          <a:latin typeface="Segoe UI"/>
                        </a:rPr>
                        <a:t>Essencial</a:t>
                      </a:r>
                    </a:p>
                  </a:txBody>
                  <a:tcPr anchor="ctr">
                    <a:solidFill>
                      <a:srgbClr val="13315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26280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Mínimo mensal R$ 5 mil (Pro) · setup e integração ao LMS R$ 10–25 mil · piloto de 90 dias em uma fase de um curso por R$ 5 mil, com meta de rematrícula acordada e conversão automática em contrato anual · margem bruta alvo 80%.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78308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A CONTA DO CLIENTE-REFERÊNCIA · 12 MIL ALUNOS 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2194560"/>
            <a:ext cx="4709160" cy="11887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32320" y="230428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C4B6"/>
                </a:solidFill>
                <a:latin typeface="Segoe UI"/>
              </a:rPr>
              <a:t>R$ 576 mil / 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761488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12.000 alunos × R$ 4,00 × 12 meses (+ setup único de R$ 20 mil)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520439"/>
            <a:ext cx="4709160" cy="11887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32320" y="363016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C4B6"/>
                </a:solidFill>
                <a:latin typeface="Segoe UI"/>
              </a:rPr>
              <a:t>137 alunos retidos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4087368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≈ 1,1% da base, a R$ 4.200/ano de receita preservada por aluno, já paga o contrato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4846320"/>
            <a:ext cx="4709160" cy="11887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132320" y="495604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EC4B6"/>
                </a:solidFill>
                <a:latin typeface="Segoe UI"/>
              </a:rPr>
              <a:t>R$ 500 mil por ponto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5413248"/>
            <a:ext cx="4389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cada 1 p.p. de desistência evitado (~120 alunos) vale ~R$ 500 mil/ano. Estimativas com ticket de R$ 350/mês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6035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Quem paga: a diretoria de operações acadêmicas, porque compramos rematrícula. Quem usa: a coordenação de permanência. Venda com painel de receita em risco em R$; uso diário com a fila de segunda.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13</a:t>
            </a:r>
          </a:p>
        </p:txBody>
      </p:sp>
      <p:pic>
        <p:nvPicPr>
          <p:cNvPr id="19" name="Picture 18" descr="retena_horizontal_claro_sobre_e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2545"/>
                </a:solidFill>
                <a:latin typeface="Segoe UI"/>
              </a:rPr>
              <a:t>5,2 milhões de alunos EAD · 2.244 IES privadas.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Segoe UI"/>
              </a:rPr>
              <a:t>R$ 249 mi/ano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DDE6F0"/>
                </a:solidFill>
                <a:latin typeface="Segoe UI"/>
              </a:rPr>
              <a:t>5,19 mi matrículas EAD (INEP 2024) × R$ 4 × 12 meses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78308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26279" y="19202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SAM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2402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Segoe UI"/>
              </a:rPr>
              <a:t>R$ 126 mi/ano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306324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DDE6F0"/>
                </a:solidFill>
                <a:latin typeface="Segoe UI"/>
              </a:rPr>
              <a:t>IES privadas fora dos megagrupos: ~2,6 mi alunos (Semesp 2026)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783080"/>
            <a:ext cx="3520440" cy="2331720"/>
          </a:xfrm>
          <a:prstGeom prst="roundRect">
            <a:avLst>
              <a:gd name="adj" fmla="val 6000"/>
            </a:avLst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75319" y="1920240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B2545"/>
                </a:solidFill>
                <a:latin typeface="Segoe UI"/>
              </a:rPr>
              <a:t>SOM · 3 anos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24028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B2545"/>
                </a:solidFill>
                <a:latin typeface="Segoe UI"/>
              </a:rPr>
              <a:t>R$ 2,5–4,3 mi ARR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306324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B2545"/>
                </a:solidFill>
                <a:latin typeface="Segoe UI"/>
              </a:rPr>
              <a:t>8–12 IES médias (~52 mil alunos) + 1 megagrupo piloto via canal Oracle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GO-TO-MARKET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0916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481888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Ano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38928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3 pilotos de 90 dias + 2 contratos (~R$ 0,5 mi ARR); Autonomous Always Free → pago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470916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480559" y="481888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Ano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5138928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6 IES médias (~R$ 1,4 mi ARR); módulo de conteúdo adaptativo; integração WhatsApp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470916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599" y="481888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Ano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9" y="5138928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10–12 IES + 1 megagrupo via ecossistema Oracle (R$ 2,5–4,3 mi ARR); ensino técnico e corporativo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14</a:t>
            </a:r>
          </a:p>
        </p:txBody>
      </p:sp>
      <p:pic>
        <p:nvPicPr>
          <p:cNvPr id="28" name="Picture 27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VALIDAÇÃO ESTRUTURADA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0B2545"/>
                </a:solidFill>
                <a:latin typeface="Segoe UI"/>
              </a:rPr>
              <a:t>Dados reais, fontes de mercado e entrevistas estruturadas.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3949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90195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Hipóteses H1–H6 · status após a Fase 6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2404872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Segoe UI"/>
              </a:rPr>
              <a:t>H1 · A IES descobre a evasão tarde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233172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6/6 percebem em ≥ 2 semanas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026664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5351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Segoe UI"/>
              </a:rPr>
              <a:t>H2 · Sinais do LMS antecipam a evasão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953512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AUC 0,88 no teste temporal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648456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75304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Segoe UI"/>
              </a:rPr>
              <a:t>H3 · Tutores não conseguem priorizar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575304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5/6 priorizam de forma intuitiva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4270248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197096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Segoe UI"/>
              </a:rPr>
              <a:t>H4 · Conteúdo tem atrito identificável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197096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4/6 citam capítulos específicos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892040"/>
            <a:ext cx="182880" cy="182880"/>
          </a:xfrm>
          <a:prstGeom prst="ellipse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818888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Segoe UI"/>
              </a:rPr>
              <a:t>H5 · Disposição a pagar por aluno/mês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4818888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coordenação R$ 1–3; sponsor R$ 3–4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513832"/>
            <a:ext cx="182880" cy="182880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4406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B2545"/>
                </a:solidFill>
                <a:latin typeface="Segoe UI"/>
              </a:rPr>
              <a:t>H6 · Integração por export é aceitável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544068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A5C"/>
                </a:solidFill>
                <a:latin typeface="Segoe UI"/>
              </a:rPr>
              <a:t>6/6 têm export de logs acessível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1783080"/>
            <a:ext cx="5394960" cy="4343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46520" y="190195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B2545"/>
                </a:solidFill>
                <a:latin typeface="Segoe UI"/>
              </a:rPr>
              <a:t>O que as entrevistas mudaram na proposta</a:t>
            </a:r>
          </a:p>
        </p:txBody>
      </p:sp>
      <p:sp>
        <p:nvSpPr>
          <p:cNvPr id="26" name="Oval 25"/>
          <p:cNvSpPr/>
          <p:nvPr/>
        </p:nvSpPr>
        <p:spPr>
          <a:xfrm>
            <a:off x="6446520" y="2423160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2" y="2331720"/>
            <a:ext cx="4773168" cy="508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Venda ao sponsor de operações (receita em risco em R$); uso diário pela coordenação.</a:t>
            </a:r>
          </a:p>
        </p:txBody>
      </p:sp>
      <p:sp>
        <p:nvSpPr>
          <p:cNvPr id="28" name="Oval 27"/>
          <p:cNvSpPr/>
          <p:nvPr/>
        </p:nvSpPr>
        <p:spPr>
          <a:xfrm>
            <a:off x="6446520" y="3023006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02552" y="2931566"/>
            <a:ext cx="4773168" cy="508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Plano Essencial para IES pequenas: a dor existe, o orçamento é mínimo.</a:t>
            </a:r>
          </a:p>
        </p:txBody>
      </p:sp>
      <p:sp>
        <p:nvSpPr>
          <p:cNvPr id="30" name="Oval 29"/>
          <p:cNvSpPr/>
          <p:nvPr/>
        </p:nvSpPr>
        <p:spPr>
          <a:xfrm>
            <a:off x="6446520" y="3622852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02552" y="3531412"/>
            <a:ext cx="4773168" cy="508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Template de mensagem, janela 19h–22h e "kit de retomada" em cada linha da fila.</a:t>
            </a:r>
          </a:p>
        </p:txBody>
      </p:sp>
      <p:sp>
        <p:nvSpPr>
          <p:cNvPr id="32" name="Oval 31"/>
          <p:cNvSpPr/>
          <p:nvPr/>
        </p:nvSpPr>
        <p:spPr>
          <a:xfrm>
            <a:off x="6446520" y="4222699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02552" y="4131259"/>
            <a:ext cx="4773168" cy="508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Registro de resultado em um clique; WhatsApp no primeiro trimestre pós-piloto.</a:t>
            </a:r>
          </a:p>
        </p:txBody>
      </p:sp>
      <p:sp>
        <p:nvSpPr>
          <p:cNvPr id="34" name="Oval 33"/>
          <p:cNvSpPr/>
          <p:nvPr/>
        </p:nvSpPr>
        <p:spPr>
          <a:xfrm>
            <a:off x="6446520" y="4822545"/>
            <a:ext cx="118872" cy="118872"/>
          </a:xfrm>
          <a:prstGeom prst="ellipse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02552" y="4731105"/>
            <a:ext cx="4773168" cy="508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A4A5C"/>
                </a:solidFill>
                <a:latin typeface="Segoe UI"/>
              </a:rPr>
              <a:t>Piloto com meta de rematrícula contratual; argumento LGPD explícito.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6520" y="5257800"/>
            <a:ext cx="5029200" cy="731520"/>
          </a:xfrm>
          <a:prstGeom prst="roundRect">
            <a:avLst>
              <a:gd name="adj" fmla="val 8000"/>
            </a:avLst>
          </a:prstGeom>
          <a:solidFill>
            <a:srgbClr val="FFF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0" y="5303520"/>
            <a:ext cx="4754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3A4A5C"/>
                </a:solidFill>
                <a:latin typeface="Segoe UI"/>
              </a:rPr>
              <a:t>Nota: as 8 entrevistas foram conduzidas em formato simulado, com personas sintéticas construídas a partir dos perfis-alvo e da base real, para calibrar o instrumento; serão confirmadas em campo antes do piloto.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Segoe UI"/>
              </a:rPr>
              <a:t>15</a:t>
            </a:r>
          </a:p>
        </p:txBody>
      </p:sp>
      <p:pic>
        <p:nvPicPr>
          <p:cNvPr id="40" name="Picture 39" descr="retena_horizontal_escuro_sobre_cla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EC4B6"/>
                </a:solidFill>
                <a:latin typeface="Segoe UI"/>
              </a:rP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Segoe UI"/>
              </a:rPr>
              <a:t>Do MVP ao piloto com meta de rematrícula.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0515600" cy="54864"/>
          </a:xfrm>
          <a:prstGeom prst="rect">
            <a:avLst/>
          </a:prstGeom>
          <a:solidFill>
            <a:srgbClr val="3E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1463040" y="2651760"/>
            <a:ext cx="329184" cy="329184"/>
          </a:xfrm>
          <a:prstGeom prst="ellipse">
            <a:avLst/>
          </a:prstGeom>
          <a:solidFill>
            <a:srgbClr val="2EC4B6"/>
          </a:solidFill>
          <a:ln w="254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EC4B6"/>
                </a:solidFill>
                <a:latin typeface="Segoe UI"/>
              </a:rPr>
              <a:t>13/09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Vídeo pitch e formulário enviados</a:t>
            </a:r>
          </a:p>
        </p:txBody>
      </p:sp>
      <p:sp>
        <p:nvSpPr>
          <p:cNvPr id="8" name="Oval 7"/>
          <p:cNvSpPr/>
          <p:nvPr/>
        </p:nvSpPr>
        <p:spPr>
          <a:xfrm>
            <a:off x="3749039" y="2651760"/>
            <a:ext cx="329184" cy="329184"/>
          </a:xfrm>
          <a:prstGeom prst="ellipse">
            <a:avLst/>
          </a:prstGeom>
          <a:solidFill>
            <a:srgbClr val="2EC4B6"/>
          </a:solidFill>
          <a:ln w="254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0116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EC4B6"/>
                </a:solidFill>
                <a:latin typeface="Segoe UI"/>
              </a:rPr>
              <a:t>23/09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315468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Banca Final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0" y="2651760"/>
            <a:ext cx="329184" cy="329184"/>
          </a:xfrm>
          <a:prstGeom prst="ellipse">
            <a:avLst/>
          </a:prstGeom>
          <a:solidFill>
            <a:srgbClr val="13315C"/>
          </a:solidFill>
          <a:ln w="254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0116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24/10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15468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NEXT: demonstração com Autonomous AI Database + APEX</a:t>
            </a:r>
          </a:p>
        </p:txBody>
      </p:sp>
      <p:sp>
        <p:nvSpPr>
          <p:cNvPr id="14" name="Oval 13"/>
          <p:cNvSpPr/>
          <p:nvPr/>
        </p:nvSpPr>
        <p:spPr>
          <a:xfrm>
            <a:off x="8321040" y="2651760"/>
            <a:ext cx="329184" cy="329184"/>
          </a:xfrm>
          <a:prstGeom prst="ellipse">
            <a:avLst/>
          </a:prstGeom>
          <a:solidFill>
            <a:srgbClr val="13315C"/>
          </a:solidFill>
          <a:ln w="254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20116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Nov–Fev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15468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Piloto de 90 dias em uma fase de um curso, meta de rematrícula</a:t>
            </a:r>
          </a:p>
        </p:txBody>
      </p:sp>
      <p:sp>
        <p:nvSpPr>
          <p:cNvPr id="17" name="Oval 16"/>
          <p:cNvSpPr/>
          <p:nvPr/>
        </p:nvSpPr>
        <p:spPr>
          <a:xfrm>
            <a:off x="10607040" y="2651760"/>
            <a:ext cx="329184" cy="329184"/>
          </a:xfrm>
          <a:prstGeom prst="ellipse">
            <a:avLst/>
          </a:prstGeom>
          <a:solidFill>
            <a:srgbClr val="13315C"/>
          </a:solidFill>
          <a:ln w="25400">
            <a:solidFill>
              <a:srgbClr val="2EC4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201168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15468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Conteúdo adaptativo, WhatsApp, megagrupos via canal Oracle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O QUE PEDIMOS À BANCA E AO ECOSSISTEMA ORACLE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92040"/>
            <a:ext cx="3520440" cy="11887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4983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C4B6"/>
                </a:solidFill>
                <a:latin typeface="Segoe UI"/>
              </a:rPr>
              <a:t>Autonomous AI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4924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apoio para provisionar o Always Free e publicar a primeira aplicação APEX antes do NEXT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4892040"/>
            <a:ext cx="3520440" cy="11887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480559" y="4983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C4B6"/>
                </a:solidFill>
                <a:latin typeface="Segoe UI"/>
              </a:rPr>
              <a:t>Uma IES parceira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59" y="534924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para o piloto de 90 dias em uma fase de um curso, com dados anonimizados e meta acordada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19" y="4892040"/>
            <a:ext cx="3520440" cy="1188720"/>
          </a:xfrm>
          <a:prstGeom prst="roundRect">
            <a:avLst>
              <a:gd name="adj" fmla="val 6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599" y="4983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EC4B6"/>
                </a:solidFill>
                <a:latin typeface="Segoe UI"/>
              </a:rPr>
              <a:t>Mentoria comercial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9" y="5349240"/>
            <a:ext cx="3154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Segoe UI"/>
              </a:rPr>
              <a:t>para a venda ao sponsor de operações e o acesso a grupos que já rodam Oracle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Retena · Startup One / Enterprise Challenge Oracle · FIAP 4ESOA-2026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FB3C8"/>
                </a:solidFill>
                <a:latin typeface="Segoe UI"/>
              </a:rPr>
              <a:t>16</a:t>
            </a:r>
          </a:p>
        </p:txBody>
      </p:sp>
      <p:pic>
        <p:nvPicPr>
          <p:cNvPr id="32" name="Picture 31" descr="retena_horizontal_claro_sobre_escu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384048"/>
            <a:ext cx="135697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ormatura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retena_horizontal_claro_sobre_escu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2746248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Ninguém desiste de repente.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2EC4B6"/>
                </a:solidFill>
                <a:latin typeface="Segoe UI"/>
              </a:rPr>
              <a:t>A Retena percebe antes.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DDE6F0"/>
                </a:solidFill>
                <a:latin typeface="Segoe UI"/>
              </a:rPr>
              <a:t>A evasão não é um evento. É um silêncio que dura semanas. A Retena escuta esse silêncio, dentro do banco que a instituição já usa, e devolve tempo para quem pode agir.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29200"/>
            <a:ext cx="3520440" cy="960120"/>
          </a:xfrm>
          <a:prstGeom prst="roundRect">
            <a:avLst>
              <a:gd name="adj" fmla="val 10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5840" y="51023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Vídeo 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3949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youtu.be/HZrcLvIJCC4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5029200"/>
            <a:ext cx="3520440" cy="960120"/>
          </a:xfrm>
          <a:prstGeom prst="roundRect">
            <a:avLst>
              <a:gd name="adj" fmla="val 10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709160" y="51023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Site 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53949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lucashenklain.github.io/retena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5029200"/>
            <a:ext cx="3520440" cy="960120"/>
          </a:xfrm>
          <a:prstGeom prst="roundRect">
            <a:avLst>
              <a:gd name="adj" fmla="val 10000"/>
            </a:avLst>
          </a:prstGeom>
          <a:solidFill>
            <a:srgbClr val="16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80" y="51023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EC4B6"/>
                </a:solidFill>
                <a:latin typeface="Segoe UI"/>
              </a:rPr>
              <a:t>Evidências Oracle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53949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lucashenklain.github.io/retena/</a:t>
            </a:r>
          </a:p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Segoe UI"/>
              </a:rPr>
              <a:t>evidencias/evidencias.html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217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9D6E4"/>
                </a:solidFill>
                <a:latin typeface="Segoe UI"/>
              </a:rPr>
              <a:t>Lucas Dalmas · Lucas Emanuel · Kayque Moraes · Lucas Henklain · Vinicius Pinheiro — Engenharia de Software, FIAP 4ESOA · Startup One / Enterprise Challenge Oracle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